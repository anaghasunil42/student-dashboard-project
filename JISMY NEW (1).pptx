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Nunito"/>
      <p:regular r:id="rId22"/>
      <p:bold r:id="rId23"/>
      <p:italic r:id="rId24"/>
      <p:boldItalic r:id="rId25"/>
    </p:embeddedFont>
    <p:embeddedFont>
      <p:font typeface="Maven Pro"/>
      <p:regular r:id="rId26"/>
      <p:bold r:id="rId27"/>
    </p:embeddedFont>
    <p:embeddedFont>
      <p:font typeface="Lora"/>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unito-regular.fntdata"/><Relationship Id="rId21" Type="http://schemas.openxmlformats.org/officeDocument/2006/relationships/slide" Target="slides/slide16.xml"/><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avenPro-regular.fntdata"/><Relationship Id="rId25" Type="http://schemas.openxmlformats.org/officeDocument/2006/relationships/font" Target="fonts/Nunito-boldItalic.fntdata"/><Relationship Id="rId28" Type="http://schemas.openxmlformats.org/officeDocument/2006/relationships/font" Target="fonts/Lora-regular.fntdata"/><Relationship Id="rId27" Type="http://schemas.openxmlformats.org/officeDocument/2006/relationships/font" Target="fonts/MavenPr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ora-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ora-boldItalic.fntdata"/><Relationship Id="rId30" Type="http://schemas.openxmlformats.org/officeDocument/2006/relationships/font" Target="fonts/Lora-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c79a01ab4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dc79a01ab4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c79a01ab4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c79a01ab4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c79a01ab4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dc79a01ab4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c79a01ab4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dc79a01ab4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c9031243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dc9031243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dc79a01ab4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dc79a01ab4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c79a01ab4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c79a01ab4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dc79a01ab4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dc79a01ab4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c79a01ab4_0_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c79a01ab4_0_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c79a01ab4_0_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dc79a01ab4_0_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c79a01ab4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c79a01ab4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c79a01ab4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c79a01ab4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c79a01ab4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dc79a01ab4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c79a01ab4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c79a01ab4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dc79a01ab4_0_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dc79a01ab4_0_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STUDY TRACK AI USING STUDENT HABIT RECOMMENDATION</a:t>
            </a:r>
            <a:endParaRPr/>
          </a:p>
        </p:txBody>
      </p:sp>
      <p:sp>
        <p:nvSpPr>
          <p:cNvPr id="278" name="Google Shape;278;p13"/>
          <p:cNvSpPr txBox="1"/>
          <p:nvPr>
            <p:ph idx="1" type="subTitle"/>
          </p:nvPr>
        </p:nvSpPr>
        <p:spPr>
          <a:xfrm>
            <a:off x="3670725" y="3571185"/>
            <a:ext cx="4242600" cy="73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400">
                <a:solidFill>
                  <a:schemeClr val="lt1"/>
                </a:solidFill>
              </a:rPr>
              <a:t>SUBMITTED BY</a:t>
            </a:r>
            <a:endParaRPr sz="1400">
              <a:solidFill>
                <a:schemeClr val="lt1"/>
              </a:solidFill>
            </a:endParaRPr>
          </a:p>
          <a:p>
            <a:pPr indent="0" lvl="0" marL="0" rtl="0" algn="r">
              <a:spcBef>
                <a:spcPts val="0"/>
              </a:spcBef>
              <a:spcAft>
                <a:spcPts val="0"/>
              </a:spcAft>
              <a:buNone/>
            </a:pPr>
            <a:r>
              <a:rPr lang="en" sz="1400">
                <a:solidFill>
                  <a:schemeClr val="lt1"/>
                </a:solidFill>
              </a:rPr>
              <a:t>JISMY C JOSEPH</a:t>
            </a:r>
            <a:endParaRPr sz="1400">
              <a:solidFill>
                <a:schemeClr val="lt1"/>
              </a:solidFill>
            </a:endParaRPr>
          </a:p>
          <a:p>
            <a:pPr indent="0" lvl="0" marL="0" rtl="0" algn="r">
              <a:spcBef>
                <a:spcPts val="0"/>
              </a:spcBef>
              <a:spcAft>
                <a:spcPts val="0"/>
              </a:spcAft>
              <a:buNone/>
            </a:pPr>
            <a:r>
              <a:rPr lang="en" sz="1400">
                <a:solidFill>
                  <a:schemeClr val="lt1"/>
                </a:solidFill>
              </a:rPr>
              <a:t>SNEHA ROSE</a:t>
            </a:r>
            <a:endParaRPr sz="1400">
              <a:solidFill>
                <a:schemeClr val="lt1"/>
              </a:solidFill>
            </a:endParaRPr>
          </a:p>
          <a:p>
            <a:pPr indent="0" lvl="0" marL="0" rtl="0" algn="r">
              <a:spcBef>
                <a:spcPts val="0"/>
              </a:spcBef>
              <a:spcAft>
                <a:spcPts val="0"/>
              </a:spcAft>
              <a:buNone/>
            </a:pPr>
            <a:r>
              <a:rPr lang="en" sz="1400">
                <a:solidFill>
                  <a:schemeClr val="lt1"/>
                </a:solidFill>
              </a:rPr>
              <a:t>ANAGHA VS</a:t>
            </a:r>
            <a:endParaRPr sz="1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556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ABSTRACT</a:t>
            </a:r>
            <a:endParaRPr/>
          </a:p>
        </p:txBody>
      </p:sp>
      <p:sp>
        <p:nvSpPr>
          <p:cNvPr id="284" name="Google Shape;284;p14"/>
          <p:cNvSpPr txBox="1"/>
          <p:nvPr>
            <p:ph idx="1" type="body"/>
          </p:nvPr>
        </p:nvSpPr>
        <p:spPr>
          <a:xfrm>
            <a:off x="682300" y="1403975"/>
            <a:ext cx="7652100" cy="3127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t/>
            </a:r>
            <a:endParaRPr sz="1500">
              <a:solidFill>
                <a:srgbClr val="1F1F1F"/>
              </a:solidFill>
              <a:latin typeface="Arial"/>
              <a:ea typeface="Arial"/>
              <a:cs typeface="Arial"/>
              <a:sym typeface="Arial"/>
            </a:endParaRPr>
          </a:p>
          <a:p>
            <a:pPr indent="0" lvl="0" marL="0" rtl="0" algn="just">
              <a:spcBef>
                <a:spcPts val="1200"/>
              </a:spcBef>
              <a:spcAft>
                <a:spcPts val="0"/>
              </a:spcAft>
              <a:buNone/>
            </a:pPr>
            <a:r>
              <a:rPr lang="en" sz="1500">
                <a:solidFill>
                  <a:srgbClr val="1F1F1F"/>
                </a:solidFill>
                <a:latin typeface="Arial"/>
                <a:ea typeface="Arial"/>
                <a:cs typeface="Arial"/>
                <a:sym typeface="Arial"/>
              </a:rPr>
              <a:t>StudyTrack is an AI-driven recommendation system designed to replace generic study advice with personalized, data-backed learning strategies. By utilizing machine learning algorithms like K-Means clustering and linear regression, the system analyzes student behavioral data, including study duration, distraction levels, and quiz performance. The platform features an interactive Streamlit dashboard where students receive tailored suggestions on study methods and break intervals while administrators can retrain models as new data becomes available. Ultimately, this project aims to bridge the gap between student habits and academic success by identifying unique learning patterns and providing actionable feedback.</a:t>
            </a:r>
            <a:endParaRPr b="1" sz="1500">
              <a:solidFill>
                <a:srgbClr val="1F1F1F"/>
              </a:solidFill>
              <a:latin typeface="Arial"/>
              <a:ea typeface="Arial"/>
              <a:cs typeface="Arial"/>
              <a:sym typeface="Arial"/>
            </a:endParaRPr>
          </a:p>
          <a:p>
            <a:pPr indent="0" lvl="0" marL="0" rtl="0" algn="just">
              <a:spcBef>
                <a:spcPts val="1200"/>
              </a:spcBef>
              <a:spcAft>
                <a:spcPts val="1200"/>
              </a:spcAft>
              <a:buNone/>
            </a:pPr>
            <a:r>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608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 AND PROBLEM STATEMENT</a:t>
            </a:r>
            <a:endParaRPr/>
          </a:p>
        </p:txBody>
      </p:sp>
      <p:sp>
        <p:nvSpPr>
          <p:cNvPr id="290" name="Google Shape;290;p15"/>
          <p:cNvSpPr txBox="1"/>
          <p:nvPr>
            <p:ph idx="1" type="body"/>
          </p:nvPr>
        </p:nvSpPr>
        <p:spPr>
          <a:xfrm>
            <a:off x="1303800" y="1587650"/>
            <a:ext cx="7030500" cy="29439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n" sz="1600"/>
              <a:t>Students frequently struggle with academic consistency because they rely on generic study routines that ignore their individual attention spans and learning patterns. This project addresses the lack of personalized feedback by developing an AI-driven system that analyzes behavioral data such as study hours, distractions, and quiz performance. The primary objective is to use machine learning clustering to identify unique student profiles and provide tailored recommendations for study methods and break intervals. Through an interactive Streamlit dashboard and an admin retraining module, the system ensures a scalable and data-backed approach to improving student academic outcomes.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16" title="drawing flow_page-0001.jpg"/>
          <p:cNvPicPr preferRelativeResize="0"/>
          <p:nvPr/>
        </p:nvPicPr>
        <p:blipFill>
          <a:blip r:embed="rId3">
            <a:alphaModFix/>
          </a:blip>
          <a:stretch>
            <a:fillRect/>
          </a:stretch>
        </p:blipFill>
        <p:spPr>
          <a:xfrm>
            <a:off x="2375875" y="249300"/>
            <a:ext cx="4572000" cy="4813825"/>
          </a:xfrm>
          <a:prstGeom prst="rect">
            <a:avLst/>
          </a:prstGeom>
          <a:noFill/>
          <a:ln>
            <a:noFill/>
          </a:ln>
        </p:spPr>
      </p:pic>
      <p:sp>
        <p:nvSpPr>
          <p:cNvPr id="296" name="Google Shape;296;p16"/>
          <p:cNvSpPr txBox="1"/>
          <p:nvPr/>
        </p:nvSpPr>
        <p:spPr>
          <a:xfrm>
            <a:off x="133950" y="1419825"/>
            <a:ext cx="2241900" cy="24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latin typeface="Lora"/>
                <a:ea typeface="Lora"/>
                <a:cs typeface="Lora"/>
                <a:sym typeface="Lora"/>
              </a:rPr>
              <a:t>SYSTEM </a:t>
            </a:r>
            <a:endParaRPr b="1" sz="1600">
              <a:solidFill>
                <a:schemeClr val="dk2"/>
              </a:solidFill>
              <a:latin typeface="Lora"/>
              <a:ea typeface="Lora"/>
              <a:cs typeface="Lora"/>
              <a:sym typeface="Lora"/>
            </a:endParaRPr>
          </a:p>
          <a:p>
            <a:pPr indent="0" lvl="0" marL="0" rtl="0" algn="l">
              <a:spcBef>
                <a:spcPts val="0"/>
              </a:spcBef>
              <a:spcAft>
                <a:spcPts val="0"/>
              </a:spcAft>
              <a:buNone/>
            </a:pPr>
            <a:r>
              <a:rPr b="1" lang="en" sz="1600">
                <a:solidFill>
                  <a:schemeClr val="dk2"/>
                </a:solidFill>
                <a:latin typeface="Lora"/>
                <a:ea typeface="Lora"/>
                <a:cs typeface="Lora"/>
                <a:sym typeface="Lora"/>
              </a:rPr>
              <a:t>ARCHITECTURE</a:t>
            </a:r>
            <a:endParaRPr b="1" sz="1600">
              <a:solidFill>
                <a:schemeClr val="dk2"/>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67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MODULE DESCRIPTION</a:t>
            </a:r>
            <a:endParaRPr/>
          </a:p>
        </p:txBody>
      </p:sp>
      <p:sp>
        <p:nvSpPr>
          <p:cNvPr id="302" name="Google Shape;302;p17"/>
          <p:cNvSpPr txBox="1"/>
          <p:nvPr>
            <p:ph idx="1" type="body"/>
          </p:nvPr>
        </p:nvSpPr>
        <p:spPr>
          <a:xfrm>
            <a:off x="1303800" y="1482700"/>
            <a:ext cx="7030500" cy="30489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lang="en">
                <a:solidFill>
                  <a:srgbClr val="1F1F1F"/>
                </a:solidFill>
                <a:latin typeface="Arial"/>
                <a:ea typeface="Arial"/>
                <a:cs typeface="Arial"/>
                <a:sym typeface="Arial"/>
              </a:rPr>
              <a:t>Here are the descriptions for the four primary modules, each condensed into a single sentence:</a:t>
            </a:r>
            <a:endParaRPr>
              <a:solidFill>
                <a:srgbClr val="1F1F1F"/>
              </a:solidFill>
              <a:latin typeface="Arial"/>
              <a:ea typeface="Arial"/>
              <a:cs typeface="Arial"/>
              <a:sym typeface="Arial"/>
            </a:endParaRPr>
          </a:p>
          <a:p>
            <a:pPr indent="-311150" lvl="0" marL="457200" rtl="0" algn="just">
              <a:lnSpc>
                <a:spcPct val="105000"/>
              </a:lnSpc>
              <a:spcBef>
                <a:spcPts val="600"/>
              </a:spcBef>
              <a:spcAft>
                <a:spcPts val="0"/>
              </a:spcAft>
              <a:buClr>
                <a:srgbClr val="1F1F1F"/>
              </a:buClr>
              <a:buSzPts val="1300"/>
              <a:buFont typeface="Arial"/>
              <a:buChar char="●"/>
            </a:pPr>
            <a:r>
              <a:rPr b="1" lang="en">
                <a:solidFill>
                  <a:srgbClr val="1F1F1F"/>
                </a:solidFill>
                <a:latin typeface="Arial"/>
                <a:ea typeface="Arial"/>
                <a:cs typeface="Arial"/>
                <a:sym typeface="Arial"/>
              </a:rPr>
              <a:t>Module 1: Data Collection &amp; Preprocessing</a:t>
            </a:r>
            <a:r>
              <a:rPr lang="en">
                <a:solidFill>
                  <a:srgbClr val="1F1F1F"/>
                </a:solidFill>
                <a:latin typeface="Arial"/>
                <a:ea typeface="Arial"/>
                <a:cs typeface="Arial"/>
                <a:sym typeface="Arial"/>
              </a:rPr>
              <a:t> – This module ingests raw datasets containing study hours and quiz scores, performing data cleaning and normalization to ensure high-quality input for the machine learning models.</a:t>
            </a:r>
            <a:endParaRPr>
              <a:solidFill>
                <a:srgbClr val="1F1F1F"/>
              </a:solidFill>
              <a:latin typeface="Arial"/>
              <a:ea typeface="Arial"/>
              <a:cs typeface="Arial"/>
              <a:sym typeface="Arial"/>
            </a:endParaRPr>
          </a:p>
          <a:p>
            <a:pPr indent="-311150" lvl="0" marL="457200" rtl="0" algn="just">
              <a:lnSpc>
                <a:spcPct val="105000"/>
              </a:lnSpc>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Module 2: Behavior Clustering &amp; Pattern Detection</a:t>
            </a:r>
            <a:r>
              <a:rPr lang="en">
                <a:solidFill>
                  <a:srgbClr val="1F1F1F"/>
                </a:solidFill>
                <a:latin typeface="Arial"/>
                <a:ea typeface="Arial"/>
                <a:cs typeface="Arial"/>
                <a:sym typeface="Arial"/>
              </a:rPr>
              <a:t> – Using unsupervised learning algorithms like K-Means, this module groups students into distinct behavioral profiles based on their unique study habits and distraction levels.</a:t>
            </a:r>
            <a:endParaRPr>
              <a:solidFill>
                <a:srgbClr val="1F1F1F"/>
              </a:solidFill>
              <a:latin typeface="Arial"/>
              <a:ea typeface="Arial"/>
              <a:cs typeface="Arial"/>
              <a:sym typeface="Arial"/>
            </a:endParaRPr>
          </a:p>
          <a:p>
            <a:pPr indent="-311150" lvl="0" marL="457200" rtl="0" algn="just">
              <a:lnSpc>
                <a:spcPct val="105000"/>
              </a:lnSpc>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Module 3: Recommendation Engine</a:t>
            </a:r>
            <a:r>
              <a:rPr lang="en">
                <a:solidFill>
                  <a:srgbClr val="1F1F1F"/>
                </a:solidFill>
                <a:latin typeface="Arial"/>
                <a:ea typeface="Arial"/>
                <a:cs typeface="Arial"/>
                <a:sym typeface="Arial"/>
              </a:rPr>
              <a:t> – This core logic maps identified student clusters to specific, actionable study strategies, such as personalized break intervals and optimized learning techniques like the Pomodoro method.</a:t>
            </a:r>
            <a:endParaRPr>
              <a:solidFill>
                <a:srgbClr val="1F1F1F"/>
              </a:solidFill>
              <a:latin typeface="Arial"/>
              <a:ea typeface="Arial"/>
              <a:cs typeface="Arial"/>
              <a:sym typeface="Arial"/>
            </a:endParaRPr>
          </a:p>
          <a:p>
            <a:pPr indent="-311150" lvl="0" marL="457200" rtl="0" algn="just">
              <a:lnSpc>
                <a:spcPct val="105000"/>
              </a:lnSpc>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Module 4: Interactive Dashboard &amp; Admin Control</a:t>
            </a:r>
            <a:r>
              <a:rPr lang="en">
                <a:solidFill>
                  <a:srgbClr val="1F1F1F"/>
                </a:solidFill>
                <a:latin typeface="Arial"/>
                <a:ea typeface="Arial"/>
                <a:cs typeface="Arial"/>
                <a:sym typeface="Arial"/>
              </a:rPr>
              <a:t> – The final module provides a Streamlit-based interface for students to track their progress and an administrative panel for uploading new data and triggering model retraining.</a:t>
            </a:r>
            <a:endParaRPr>
              <a:solidFill>
                <a:srgbClr val="1F1F1F"/>
              </a:solidFill>
              <a:latin typeface="Arial"/>
              <a:ea typeface="Arial"/>
              <a:cs typeface="Arial"/>
              <a:sym typeface="Arial"/>
            </a:endParaRPr>
          </a:p>
          <a:p>
            <a:pPr indent="0" lvl="0" marL="0" rtl="0" algn="just">
              <a:lnSpc>
                <a:spcPct val="105000"/>
              </a:lnSpc>
              <a:spcBef>
                <a:spcPts val="1800"/>
              </a:spcBef>
              <a:spcAft>
                <a:spcPts val="1200"/>
              </a:spcAft>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PACKAGES USED</a:t>
            </a:r>
            <a:endParaRPr/>
          </a:p>
        </p:txBody>
      </p:sp>
      <p:sp>
        <p:nvSpPr>
          <p:cNvPr id="308" name="Google Shape;308;p18"/>
          <p:cNvSpPr txBox="1"/>
          <p:nvPr>
            <p:ph idx="1" type="body"/>
          </p:nvPr>
        </p:nvSpPr>
        <p:spPr>
          <a:xfrm>
            <a:off x="1303800" y="1138525"/>
            <a:ext cx="7030500" cy="3393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1F1F1F"/>
                </a:solidFill>
                <a:latin typeface="Arial"/>
                <a:ea typeface="Arial"/>
                <a:cs typeface="Arial"/>
                <a:sym typeface="Arial"/>
              </a:rPr>
              <a:t>For your PowerPoint content, here are the packages used in the dashboard summarized in six concise points:</a:t>
            </a:r>
            <a:endParaRPr>
              <a:solidFill>
                <a:srgbClr val="1F1F1F"/>
              </a:solidFill>
              <a:latin typeface="Arial"/>
              <a:ea typeface="Arial"/>
              <a:cs typeface="Arial"/>
              <a:sym typeface="Arial"/>
            </a:endParaRPr>
          </a:p>
          <a:p>
            <a:pPr indent="-311150" lvl="0" marL="457200" rtl="0" algn="just">
              <a:spcBef>
                <a:spcPts val="600"/>
              </a:spcBef>
              <a:spcAft>
                <a:spcPts val="0"/>
              </a:spcAft>
              <a:buClr>
                <a:srgbClr val="1F1F1F"/>
              </a:buClr>
              <a:buSzPts val="1300"/>
              <a:buFont typeface="Arial"/>
              <a:buChar char="●"/>
            </a:pPr>
            <a:r>
              <a:rPr b="1" lang="en">
                <a:solidFill>
                  <a:srgbClr val="1F1F1F"/>
                </a:solidFill>
                <a:latin typeface="Arial"/>
                <a:ea typeface="Arial"/>
                <a:cs typeface="Arial"/>
                <a:sym typeface="Arial"/>
              </a:rPr>
              <a:t>Streamlit</a:t>
            </a:r>
            <a:r>
              <a:rPr lang="en">
                <a:solidFill>
                  <a:srgbClr val="1F1F1F"/>
                </a:solidFill>
                <a:latin typeface="Arial"/>
                <a:ea typeface="Arial"/>
                <a:cs typeface="Arial"/>
                <a:sym typeface="Arial"/>
              </a:rPr>
              <a:t> serves as the core web framework to build the multi-module dashboard and interactive sidebar navigation.</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Pandas</a:t>
            </a:r>
            <a:r>
              <a:rPr lang="en">
                <a:solidFill>
                  <a:srgbClr val="1F1F1F"/>
                </a:solidFill>
                <a:latin typeface="Arial"/>
                <a:ea typeface="Arial"/>
                <a:cs typeface="Arial"/>
                <a:sym typeface="Arial"/>
              </a:rPr>
              <a:t> is utilized for all data management tasks, including reading CSV files and cleaning missing values using mean or mode imputation.</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Matplotlib</a:t>
            </a:r>
            <a:r>
              <a:rPr lang="en">
                <a:solidFill>
                  <a:srgbClr val="1F1F1F"/>
                </a:solidFill>
                <a:latin typeface="Arial"/>
                <a:ea typeface="Arial"/>
                <a:cs typeface="Arial"/>
                <a:sym typeface="Arial"/>
              </a:rPr>
              <a:t> acts as the primary visualization engine to generate a wide variety of charts, such as scatter plots, histograms, and bar graphs.</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Scikit-learn</a:t>
            </a:r>
            <a:r>
              <a:rPr lang="en">
                <a:solidFill>
                  <a:srgbClr val="1F1F1F"/>
                </a:solidFill>
                <a:latin typeface="Arial"/>
                <a:ea typeface="Arial"/>
                <a:cs typeface="Arial"/>
                <a:sym typeface="Arial"/>
              </a:rPr>
              <a:t> provides the machine learning capabilities, specifically using </a:t>
            </a:r>
            <a:r>
              <a:rPr b="1" lang="en">
                <a:solidFill>
                  <a:srgbClr val="1F1F1F"/>
                </a:solidFill>
                <a:latin typeface="Arial"/>
                <a:ea typeface="Arial"/>
                <a:cs typeface="Arial"/>
                <a:sym typeface="Arial"/>
              </a:rPr>
              <a:t>K Means</a:t>
            </a:r>
            <a:r>
              <a:rPr lang="en">
                <a:solidFill>
                  <a:srgbClr val="1F1F1F"/>
                </a:solidFill>
                <a:latin typeface="Arial"/>
                <a:ea typeface="Arial"/>
                <a:cs typeface="Arial"/>
                <a:sym typeface="Arial"/>
              </a:rPr>
              <a:t> for student behavior clustering and </a:t>
            </a:r>
            <a:r>
              <a:rPr b="1" lang="en">
                <a:solidFill>
                  <a:srgbClr val="1F1F1F"/>
                </a:solidFill>
                <a:latin typeface="Arial"/>
                <a:ea typeface="Arial"/>
                <a:cs typeface="Arial"/>
                <a:sym typeface="Arial"/>
              </a:rPr>
              <a:t>Linear Regression</a:t>
            </a:r>
            <a:r>
              <a:rPr lang="en">
                <a:solidFill>
                  <a:srgbClr val="1F1F1F"/>
                </a:solidFill>
                <a:latin typeface="Arial"/>
                <a:ea typeface="Arial"/>
                <a:cs typeface="Arial"/>
                <a:sym typeface="Arial"/>
              </a:rPr>
              <a:t> for performance monitoring.</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Random</a:t>
            </a:r>
            <a:r>
              <a:rPr lang="en">
                <a:solidFill>
                  <a:srgbClr val="1F1F1F"/>
                </a:solidFill>
                <a:latin typeface="Arial"/>
                <a:ea typeface="Arial"/>
                <a:cs typeface="Arial"/>
                <a:sym typeface="Arial"/>
              </a:rPr>
              <a:t> is integrated within the AI Study Planner to generate dynamic study slots, break durations, and simulated effectiveness metrics.</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Datetime</a:t>
            </a:r>
            <a:r>
              <a:rPr lang="en">
                <a:solidFill>
                  <a:srgbClr val="1F1F1F"/>
                </a:solidFill>
                <a:latin typeface="Arial"/>
                <a:ea typeface="Arial"/>
                <a:cs typeface="Arial"/>
                <a:sym typeface="Arial"/>
              </a:rPr>
              <a:t> is employed to track real-time study logs, calculate exam countdowns, and timestamp model retraining sessions</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303800" y="598575"/>
            <a:ext cx="7030500" cy="595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1</a:t>
            </a:r>
            <a:endParaRPr/>
          </a:p>
        </p:txBody>
      </p:sp>
      <p:sp>
        <p:nvSpPr>
          <p:cNvPr id="314" name="Google Shape;314;p19"/>
          <p:cNvSpPr txBox="1"/>
          <p:nvPr>
            <p:ph idx="1" type="body"/>
          </p:nvPr>
        </p:nvSpPr>
        <p:spPr>
          <a:xfrm>
            <a:off x="1303800" y="1115300"/>
            <a:ext cx="70305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solidFill>
                  <a:srgbClr val="1F1F1F"/>
                </a:solidFill>
                <a:latin typeface="Arial"/>
                <a:ea typeface="Arial"/>
                <a:cs typeface="Arial"/>
                <a:sym typeface="Arial"/>
              </a:rPr>
              <a:t>The Data Collection and Preprocessing module serves as the critical foundation of the system by aggregating diverse student datasets including study hours, quiz results, and distraction logs. It ensures data integrity through rigorous cleaning, normalization of continuous variables, and the conversion of categorical behavioral traits into a machine-readable numerical format.</a:t>
            </a:r>
            <a:endParaRPr>
              <a:solidFill>
                <a:srgbClr val="1F1F1F"/>
              </a:solidFill>
              <a:latin typeface="Arial"/>
              <a:ea typeface="Arial"/>
              <a:cs typeface="Arial"/>
              <a:sym typeface="Arial"/>
            </a:endParaRPr>
          </a:p>
          <a:p>
            <a:pPr indent="0" lvl="0" marL="0" rtl="0" algn="just">
              <a:spcBef>
                <a:spcPts val="1200"/>
              </a:spcBef>
              <a:spcAft>
                <a:spcPts val="0"/>
              </a:spcAft>
              <a:buNone/>
            </a:pPr>
            <a:r>
              <a:t/>
            </a:r>
            <a:endParaRPr>
              <a:solidFill>
                <a:srgbClr val="1F1F1F"/>
              </a:solidFill>
              <a:latin typeface="Arial"/>
              <a:ea typeface="Arial"/>
              <a:cs typeface="Arial"/>
              <a:sym typeface="Arial"/>
            </a:endParaRPr>
          </a:p>
          <a:p>
            <a:pPr indent="0" lvl="0" marL="0" rtl="0" algn="just">
              <a:spcBef>
                <a:spcPts val="1200"/>
              </a:spcBef>
              <a:spcAft>
                <a:spcPts val="0"/>
              </a:spcAft>
              <a:buNone/>
            </a:pPr>
            <a:r>
              <a:t/>
            </a:r>
            <a:endParaRPr>
              <a:solidFill>
                <a:srgbClr val="1F1F1F"/>
              </a:solidFill>
              <a:latin typeface="Arial"/>
              <a:ea typeface="Arial"/>
              <a:cs typeface="Arial"/>
              <a:sym typeface="Arial"/>
            </a:endParaRPr>
          </a:p>
          <a:p>
            <a:pPr indent="0" lvl="0" marL="0" rtl="0" algn="just">
              <a:spcBef>
                <a:spcPts val="1200"/>
              </a:spcBef>
              <a:spcAft>
                <a:spcPts val="1200"/>
              </a:spcAft>
              <a:buNone/>
            </a:pPr>
            <a:r>
              <a:t/>
            </a:r>
            <a:endParaRPr sz="1500"/>
          </a:p>
        </p:txBody>
      </p:sp>
      <p:pic>
        <p:nvPicPr>
          <p:cNvPr id="315" name="Google Shape;315;p19" title="m12.PNG"/>
          <p:cNvPicPr preferRelativeResize="0"/>
          <p:nvPr/>
        </p:nvPicPr>
        <p:blipFill>
          <a:blip r:embed="rId3">
            <a:alphaModFix/>
          </a:blip>
          <a:stretch>
            <a:fillRect/>
          </a:stretch>
        </p:blipFill>
        <p:spPr>
          <a:xfrm>
            <a:off x="1574550" y="2571750"/>
            <a:ext cx="6390001" cy="2155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20" title="m11.PNG"/>
          <p:cNvPicPr preferRelativeResize="0"/>
          <p:nvPr/>
        </p:nvPicPr>
        <p:blipFill>
          <a:blip r:embed="rId3">
            <a:alphaModFix/>
          </a:blip>
          <a:stretch>
            <a:fillRect/>
          </a:stretch>
        </p:blipFill>
        <p:spPr>
          <a:xfrm>
            <a:off x="826625" y="310150"/>
            <a:ext cx="6560602" cy="3152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1303800" y="598575"/>
            <a:ext cx="7030500" cy="569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2</a:t>
            </a:r>
            <a:endParaRPr/>
          </a:p>
        </p:txBody>
      </p:sp>
      <p:sp>
        <p:nvSpPr>
          <p:cNvPr id="326" name="Google Shape;326;p21"/>
          <p:cNvSpPr txBox="1"/>
          <p:nvPr>
            <p:ph idx="1" type="body"/>
          </p:nvPr>
        </p:nvSpPr>
        <p:spPr>
          <a:xfrm>
            <a:off x="1303800" y="1089050"/>
            <a:ext cx="7030500" cy="12465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1018"/>
              <a:buNone/>
            </a:pPr>
            <a:r>
              <a:rPr lang="en" sz="1402">
                <a:solidFill>
                  <a:srgbClr val="1F1F1F"/>
                </a:solidFill>
                <a:latin typeface="Arial"/>
                <a:ea typeface="Arial"/>
                <a:cs typeface="Arial"/>
                <a:sym typeface="Arial"/>
              </a:rPr>
              <a:t>The Behavior Clustering and Pattern Detection module utilizes unsupervised machine learning to analyze the preprocessed data and identify natural groupings within the student population. By applying algorithms such as K-Means, the system can distinguish between different learner profiles, such as "high-focus/short-duration" or "easily-distracted/long-duration" students.</a:t>
            </a:r>
            <a:endParaRPr sz="1402">
              <a:solidFill>
                <a:srgbClr val="1F1F1F"/>
              </a:solidFill>
              <a:latin typeface="Arial"/>
              <a:ea typeface="Arial"/>
              <a:cs typeface="Arial"/>
              <a:sym typeface="Arial"/>
            </a:endParaRPr>
          </a:p>
          <a:p>
            <a:pPr indent="0" lvl="0" marL="0" rtl="0" algn="just">
              <a:lnSpc>
                <a:spcPct val="95000"/>
              </a:lnSpc>
              <a:spcBef>
                <a:spcPts val="1200"/>
              </a:spcBef>
              <a:spcAft>
                <a:spcPts val="1200"/>
              </a:spcAft>
              <a:buSzPts val="1018"/>
              <a:buNone/>
            </a:pPr>
            <a:r>
              <a:t/>
            </a:r>
            <a:endParaRPr sz="1402"/>
          </a:p>
        </p:txBody>
      </p:sp>
      <p:pic>
        <p:nvPicPr>
          <p:cNvPr id="327" name="Google Shape;327;p21" title="m21.PNG"/>
          <p:cNvPicPr preferRelativeResize="0"/>
          <p:nvPr/>
        </p:nvPicPr>
        <p:blipFill>
          <a:blip r:embed="rId3">
            <a:alphaModFix/>
          </a:blip>
          <a:stretch>
            <a:fillRect/>
          </a:stretch>
        </p:blipFill>
        <p:spPr>
          <a:xfrm>
            <a:off x="2970850" y="2335550"/>
            <a:ext cx="2926025" cy="2503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22" title="m22.PNG"/>
          <p:cNvPicPr preferRelativeResize="0"/>
          <p:nvPr/>
        </p:nvPicPr>
        <p:blipFill rotWithShape="1">
          <a:blip r:embed="rId3">
            <a:alphaModFix/>
          </a:blip>
          <a:srcRect b="0" l="0" r="0" t="9592"/>
          <a:stretch/>
        </p:blipFill>
        <p:spPr>
          <a:xfrm>
            <a:off x="1302312" y="367587"/>
            <a:ext cx="3337826" cy="2597626"/>
          </a:xfrm>
          <a:prstGeom prst="rect">
            <a:avLst/>
          </a:prstGeom>
          <a:noFill/>
          <a:ln>
            <a:noFill/>
          </a:ln>
        </p:spPr>
      </p:pic>
      <p:pic>
        <p:nvPicPr>
          <p:cNvPr id="333" name="Google Shape;333;p22" title="m23.PNG"/>
          <p:cNvPicPr preferRelativeResize="0"/>
          <p:nvPr/>
        </p:nvPicPr>
        <p:blipFill rotWithShape="1">
          <a:blip r:embed="rId4">
            <a:alphaModFix/>
          </a:blip>
          <a:srcRect b="0" l="0" r="0" t="4389"/>
          <a:stretch/>
        </p:blipFill>
        <p:spPr>
          <a:xfrm>
            <a:off x="4640150" y="367575"/>
            <a:ext cx="2864550" cy="2597650"/>
          </a:xfrm>
          <a:prstGeom prst="rect">
            <a:avLst/>
          </a:prstGeom>
          <a:noFill/>
          <a:ln>
            <a:noFill/>
          </a:ln>
        </p:spPr>
      </p:pic>
      <p:sp>
        <p:nvSpPr>
          <p:cNvPr id="334" name="Google Shape;334;p22"/>
          <p:cNvSpPr txBox="1"/>
          <p:nvPr/>
        </p:nvSpPr>
        <p:spPr>
          <a:xfrm>
            <a:off x="918475" y="3214675"/>
            <a:ext cx="7767900" cy="1561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a:solidFill>
                  <a:srgbClr val="1F1F1F"/>
                </a:solidFill>
              </a:rPr>
              <a:t> the machine learning models effectively categorized students into distinct clusters, allowing for high-precision study recommendations based on individual performance trends. Furthermore, the system demonstrated successful real-time adaptation, as evidenced by the "Quick Retrain" metrics showing a direct correlation between personalized study methods and improved student quiz scores.</a:t>
            </a:r>
            <a:endParaRPr b="1">
              <a:solidFill>
                <a:srgbClr val="1F1F1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3"/>
          <p:cNvSpPr txBox="1"/>
          <p:nvPr>
            <p:ph type="title"/>
          </p:nvPr>
        </p:nvSpPr>
        <p:spPr>
          <a:xfrm>
            <a:off x="1303800" y="598575"/>
            <a:ext cx="7030500" cy="516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3</a:t>
            </a:r>
            <a:endParaRPr/>
          </a:p>
        </p:txBody>
      </p:sp>
      <p:sp>
        <p:nvSpPr>
          <p:cNvPr id="340" name="Google Shape;340;p23"/>
          <p:cNvSpPr txBox="1"/>
          <p:nvPr>
            <p:ph idx="1" type="body"/>
          </p:nvPr>
        </p:nvSpPr>
        <p:spPr>
          <a:xfrm>
            <a:off x="1448125" y="1255250"/>
            <a:ext cx="7030500" cy="11721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lang="en" sz="1400">
                <a:solidFill>
                  <a:srgbClr val="1F1F1F"/>
                </a:solidFill>
                <a:latin typeface="Arial"/>
                <a:ea typeface="Arial"/>
                <a:cs typeface="Arial"/>
                <a:sym typeface="Arial"/>
              </a:rPr>
              <a:t>The Recommendation Engine serves as the core intelligence of the system, mapping the identified student clusters to specific, high-impact study strategies. By processing behavioral variables such as distraction levels and past performance, this module generates personalized advice including optimal study durations, effective learning techniques, and customized break intervals.</a:t>
            </a:r>
            <a:endParaRPr sz="1400">
              <a:solidFill>
                <a:srgbClr val="1F1F1F"/>
              </a:solidFill>
              <a:latin typeface="Arial"/>
              <a:ea typeface="Arial"/>
              <a:cs typeface="Arial"/>
              <a:sym typeface="Arial"/>
            </a:endParaRPr>
          </a:p>
          <a:p>
            <a:pPr indent="0" lvl="0" marL="0" rtl="0" algn="just">
              <a:lnSpc>
                <a:spcPct val="95000"/>
              </a:lnSpc>
              <a:spcBef>
                <a:spcPts val="1200"/>
              </a:spcBef>
              <a:spcAft>
                <a:spcPts val="1200"/>
              </a:spcAft>
              <a:buNone/>
            </a:pPr>
            <a:r>
              <a:t/>
            </a:r>
            <a:endParaRPr sz="1600"/>
          </a:p>
        </p:txBody>
      </p:sp>
      <p:pic>
        <p:nvPicPr>
          <p:cNvPr id="341" name="Google Shape;341;p23" title="WhatsApp Image 2026-03-25 at 5.48.03 PM (1).jpeg"/>
          <p:cNvPicPr preferRelativeResize="0"/>
          <p:nvPr/>
        </p:nvPicPr>
        <p:blipFill rotWithShape="1">
          <a:blip r:embed="rId3">
            <a:alphaModFix/>
          </a:blip>
          <a:srcRect b="3000" l="0" r="0" t="-3000"/>
          <a:stretch/>
        </p:blipFill>
        <p:spPr>
          <a:xfrm>
            <a:off x="1689375" y="2499375"/>
            <a:ext cx="5765250" cy="24113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24" title="inter5.png"/>
          <p:cNvPicPr preferRelativeResize="0"/>
          <p:nvPr/>
        </p:nvPicPr>
        <p:blipFill rotWithShape="1">
          <a:blip r:embed="rId3">
            <a:alphaModFix/>
          </a:blip>
          <a:srcRect b="16474" l="0" r="0" t="12057"/>
          <a:stretch/>
        </p:blipFill>
        <p:spPr>
          <a:xfrm>
            <a:off x="342663" y="354275"/>
            <a:ext cx="8458675" cy="3188451"/>
          </a:xfrm>
          <a:prstGeom prst="rect">
            <a:avLst/>
          </a:prstGeom>
          <a:noFill/>
          <a:ln>
            <a:noFill/>
          </a:ln>
        </p:spPr>
      </p:pic>
      <p:sp>
        <p:nvSpPr>
          <p:cNvPr id="347" name="Google Shape;347;p24"/>
          <p:cNvSpPr txBox="1"/>
          <p:nvPr/>
        </p:nvSpPr>
        <p:spPr>
          <a:xfrm>
            <a:off x="301775" y="3542725"/>
            <a:ext cx="7977600" cy="1351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rgbClr val="1F1F1F"/>
                </a:solidFill>
              </a:rPr>
              <a:t>The analysis indicates that Module 3 effectively bridges the gap between raw data and academic guidance by providing real-time, personalized study suggestions. By mapping performance metrics to specific techniques like Pomodoro or active recall, the system ensures that every student receives a roadmap tailored to their unique learning style.</a:t>
            </a:r>
            <a:endParaRPr sz="1500">
              <a:solidFill>
                <a:srgbClr val="1F1F1F"/>
              </a:solidFill>
            </a:endParaRPr>
          </a:p>
          <a:p>
            <a:pPr indent="0" lvl="0" marL="0" rtl="0" algn="just">
              <a:spcBef>
                <a:spcPts val="0"/>
              </a:spcBef>
              <a:spcAft>
                <a:spcPts val="0"/>
              </a:spcAft>
              <a:buNone/>
            </a:pPr>
            <a:r>
              <a:t/>
            </a:r>
            <a:endParaRPr b="1" sz="2100">
              <a:solidFill>
                <a:schemeClr val="dk2"/>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5"/>
          <p:cNvSpPr txBox="1"/>
          <p:nvPr>
            <p:ph type="title"/>
          </p:nvPr>
        </p:nvSpPr>
        <p:spPr>
          <a:xfrm>
            <a:off x="1303800" y="598575"/>
            <a:ext cx="7030500" cy="67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MODULE 4</a:t>
            </a:r>
            <a:endParaRPr/>
          </a:p>
        </p:txBody>
      </p:sp>
      <p:sp>
        <p:nvSpPr>
          <p:cNvPr id="353" name="Google Shape;353;p25"/>
          <p:cNvSpPr txBox="1"/>
          <p:nvPr>
            <p:ph idx="1" type="body"/>
          </p:nvPr>
        </p:nvSpPr>
        <p:spPr>
          <a:xfrm>
            <a:off x="1303800" y="1272675"/>
            <a:ext cx="7030500" cy="12990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n">
                <a:solidFill>
                  <a:srgbClr val="1F1F1F"/>
                </a:solidFill>
                <a:latin typeface="Arial"/>
                <a:ea typeface="Arial"/>
                <a:cs typeface="Arial"/>
                <a:sym typeface="Arial"/>
              </a:rPr>
              <a:t>The analysis indicates that Module 3 effectively bridges the gap between raw data and academic guidance by providing real-time, personalized study suggestions. By mapping performance metrics to specific techniques like Pomodoro or active recall, the system ensures that every student receives a roadmap tailored to their unique learning style.</a:t>
            </a:r>
            <a:endParaRPr>
              <a:solidFill>
                <a:srgbClr val="1F1F1F"/>
              </a:solidFill>
              <a:latin typeface="Arial"/>
              <a:ea typeface="Arial"/>
              <a:cs typeface="Arial"/>
              <a:sym typeface="Arial"/>
            </a:endParaRPr>
          </a:p>
          <a:p>
            <a:pPr indent="0" lvl="0" marL="0" rtl="0" algn="just">
              <a:spcBef>
                <a:spcPts val="1200"/>
              </a:spcBef>
              <a:spcAft>
                <a:spcPts val="1200"/>
              </a:spcAft>
              <a:buNone/>
            </a:pPr>
            <a:r>
              <a:t/>
            </a:r>
            <a:endParaRPr/>
          </a:p>
        </p:txBody>
      </p:sp>
      <p:pic>
        <p:nvPicPr>
          <p:cNvPr id="354" name="Google Shape;354;p25" title="WhatsApp Image 2026-03-25 at 5.49.02 PM (1).jpeg"/>
          <p:cNvPicPr preferRelativeResize="0"/>
          <p:nvPr/>
        </p:nvPicPr>
        <p:blipFill>
          <a:blip r:embed="rId3">
            <a:alphaModFix/>
          </a:blip>
          <a:stretch>
            <a:fillRect/>
          </a:stretch>
        </p:blipFill>
        <p:spPr>
          <a:xfrm>
            <a:off x="2674975" y="2183650"/>
            <a:ext cx="4032230" cy="22670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26" title="WhatsApp Image 2026-03-25 at 5.49.01 PM (1).jpeg"/>
          <p:cNvPicPr preferRelativeResize="0"/>
          <p:nvPr/>
        </p:nvPicPr>
        <p:blipFill rotWithShape="1">
          <a:blip r:embed="rId3">
            <a:alphaModFix/>
          </a:blip>
          <a:srcRect b="0" l="19549" r="0" t="5087"/>
          <a:stretch/>
        </p:blipFill>
        <p:spPr>
          <a:xfrm>
            <a:off x="1110163" y="281275"/>
            <a:ext cx="6923674" cy="2906600"/>
          </a:xfrm>
          <a:prstGeom prst="rect">
            <a:avLst/>
          </a:prstGeom>
          <a:noFill/>
          <a:ln>
            <a:noFill/>
          </a:ln>
        </p:spPr>
      </p:pic>
      <p:sp>
        <p:nvSpPr>
          <p:cNvPr id="360" name="Google Shape;360;p26"/>
          <p:cNvSpPr txBox="1"/>
          <p:nvPr/>
        </p:nvSpPr>
        <p:spPr>
          <a:xfrm>
            <a:off x="236175" y="3568950"/>
            <a:ext cx="8463300" cy="1325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b="1" lang="en">
                <a:solidFill>
                  <a:schemeClr val="dk2"/>
                </a:solidFill>
                <a:latin typeface="Nunito"/>
                <a:ea typeface="Nunito"/>
                <a:cs typeface="Nunito"/>
                <a:sym typeface="Nunito"/>
              </a:rPr>
              <a:t> The implementation of the Interactive Dashboard successfully provides a real-time visualization of student engagement, displaying clear metrics for average study hours and quiz performance. By integrating user input forms with dynamic data visualization, the system ensures that students can immediately track their progress and see the direct impact of following the AI-generated recommendations.</a:t>
            </a:r>
            <a:endParaRPr b="1">
              <a:solidFill>
                <a:schemeClr val="dk2"/>
              </a:solidFill>
              <a:latin typeface="Nunito"/>
              <a:ea typeface="Nunito"/>
              <a:cs typeface="Nunito"/>
              <a:sym typeface="Nunito"/>
            </a:endParaRPr>
          </a:p>
          <a:p>
            <a:pPr indent="0" lvl="0" marL="0" rtl="0" algn="just">
              <a:spcBef>
                <a:spcPts val="1200"/>
              </a:spcBef>
              <a:spcAft>
                <a:spcPts val="0"/>
              </a:spcAft>
              <a:buNone/>
            </a:pPr>
            <a:r>
              <a:t/>
            </a:r>
            <a:endParaRPr sz="1300">
              <a:solidFill>
                <a:schemeClr val="dk2"/>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7"/>
          <p:cNvSpPr txBox="1"/>
          <p:nvPr>
            <p:ph type="title"/>
          </p:nvPr>
        </p:nvSpPr>
        <p:spPr>
          <a:xfrm>
            <a:off x="1303800" y="598575"/>
            <a:ext cx="7030500" cy="45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366" name="Google Shape;366;p27"/>
          <p:cNvSpPr txBox="1"/>
          <p:nvPr>
            <p:ph idx="1" type="body"/>
          </p:nvPr>
        </p:nvSpPr>
        <p:spPr>
          <a:xfrm>
            <a:off x="616700" y="1299000"/>
            <a:ext cx="7717500" cy="32328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600">
                <a:solidFill>
                  <a:srgbClr val="1F1F1F"/>
                </a:solidFill>
                <a:latin typeface="Arial"/>
                <a:ea typeface="Arial"/>
                <a:cs typeface="Arial"/>
                <a:sym typeface="Arial"/>
              </a:rPr>
              <a:t>The integration of all four modules demonstrates a cohesive end-to-end system that transforms raw behavioral data into personalized academic success strategies. By combining machine learning clustering with a dynamic recommendation engine, the platform successfully delivers actionable insights tailored to individual student profiles. The interactive Streamlit dashboard provides a seamless user experience for logging and tracking progress, while the administrative panel ensures the system remains accurate through continuous model retraining. In conclusion, StudyTrack establishes a data-driven framework that effectively optimizes student study habits and enhances overall learning efficiency.</a:t>
            </a:r>
            <a:endParaRPr sz="1600">
              <a:solidFill>
                <a:srgbClr val="1F1F1F"/>
              </a:solidFill>
              <a:latin typeface="Arial"/>
              <a:ea typeface="Arial"/>
              <a:cs typeface="Arial"/>
              <a:sym typeface="Arial"/>
            </a:endParaRPr>
          </a:p>
          <a:p>
            <a:pPr indent="0" lvl="0" marL="0" rtl="0" algn="just">
              <a:spcBef>
                <a:spcPts val="1200"/>
              </a:spcBef>
              <a:spcAft>
                <a:spcPts val="120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8"/>
          <p:cNvSpPr/>
          <p:nvPr/>
        </p:nvSpPr>
        <p:spPr>
          <a:xfrm>
            <a:off x="476250" y="2040612"/>
            <a:ext cx="8191622" cy="1062674"/>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4A86E8"/>
                </a:solidFill>
                <a:latin typeface="Arial"/>
              </a:rPr>
              <a:t>THANK YOU</a:t>
            </a: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
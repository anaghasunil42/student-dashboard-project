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imes New Roman" charset="1" panose="02020603050405020304"/>
      <p:regular r:id="rId22"/>
    </p:embeddedFont>
    <p:embeddedFont>
      <p:font typeface="Times New Roman MT" charset="1" panose="02030502070405020303"/>
      <p:regular r:id="rId23"/>
    </p:embeddedFont>
    <p:embeddedFont>
      <p:font typeface="Helvetica World" charset="1" panose="020B050004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9053909"/>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996033" y="9053909"/>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1028700"/>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160334" y="2545269"/>
            <a:ext cx="15758240" cy="2598231"/>
          </a:xfrm>
          <a:prstGeom prst="rect">
            <a:avLst/>
          </a:prstGeom>
        </p:spPr>
        <p:txBody>
          <a:bodyPr anchor="t" rtlCol="false" tIns="0" lIns="0" bIns="0" rIns="0">
            <a:spAutoFit/>
          </a:bodyPr>
          <a:lstStyle/>
          <a:p>
            <a:pPr algn="ctr">
              <a:lnSpc>
                <a:spcPts val="10172"/>
              </a:lnSpc>
            </a:pPr>
            <a:r>
              <a:rPr lang="en-US" sz="7706" spc="-377">
                <a:solidFill>
                  <a:srgbClr val="38B6FF"/>
                </a:solidFill>
                <a:latin typeface="Times New Roman"/>
                <a:ea typeface="Times New Roman"/>
                <a:cs typeface="Times New Roman"/>
                <a:sym typeface="Times New Roman"/>
              </a:rPr>
              <a:t>STUDY TRACK AI BASED STUDENT STUDY HABIT RECOMMENDER</a:t>
            </a:r>
          </a:p>
        </p:txBody>
      </p:sp>
      <p:sp>
        <p:nvSpPr>
          <p:cNvPr name="Freeform 9" id="9"/>
          <p:cNvSpPr/>
          <p:nvPr/>
        </p:nvSpPr>
        <p:spPr>
          <a:xfrm flipH="true" flipV="false" rot="0">
            <a:off x="15921917" y="104801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7171941" y="6343697"/>
            <a:ext cx="3707606" cy="585827"/>
          </a:xfrm>
          <a:prstGeom prst="rect">
            <a:avLst/>
          </a:prstGeom>
        </p:spPr>
        <p:txBody>
          <a:bodyPr anchor="t" rtlCol="false" tIns="0" lIns="0" bIns="0" rIns="0">
            <a:spAutoFit/>
          </a:bodyPr>
          <a:lstStyle/>
          <a:p>
            <a:pPr algn="ctr">
              <a:lnSpc>
                <a:spcPts val="4534"/>
              </a:lnSpc>
              <a:spcBef>
                <a:spcPct val="0"/>
              </a:spcBef>
            </a:pPr>
            <a:r>
              <a:rPr lang="en-US" sz="3434" spc="-168">
                <a:solidFill>
                  <a:srgbClr val="FFFFFF"/>
                </a:solidFill>
                <a:latin typeface="Times New Roman"/>
                <a:ea typeface="Times New Roman"/>
                <a:cs typeface="Times New Roman"/>
                <a:sym typeface="Times New Roman"/>
              </a:rPr>
              <a:t>K BABY SRI KAVYA </a:t>
            </a:r>
          </a:p>
        </p:txBody>
      </p:sp>
      <p:sp>
        <p:nvSpPr>
          <p:cNvPr name="TextBox 11" id="11"/>
          <p:cNvSpPr txBox="true"/>
          <p:nvPr/>
        </p:nvSpPr>
        <p:spPr>
          <a:xfrm rot="0">
            <a:off x="7385287" y="7121839"/>
            <a:ext cx="3280916" cy="633452"/>
          </a:xfrm>
          <a:prstGeom prst="rect">
            <a:avLst/>
          </a:prstGeom>
        </p:spPr>
        <p:txBody>
          <a:bodyPr anchor="t" rtlCol="false" tIns="0" lIns="0" bIns="0" rIns="0">
            <a:spAutoFit/>
          </a:bodyPr>
          <a:lstStyle/>
          <a:p>
            <a:pPr algn="ctr">
              <a:lnSpc>
                <a:spcPts val="4534"/>
              </a:lnSpc>
              <a:spcBef>
                <a:spcPct val="0"/>
              </a:spcBef>
            </a:pPr>
            <a:r>
              <a:rPr lang="en-US" sz="3434" spc="-168">
                <a:solidFill>
                  <a:srgbClr val="FFFFFF"/>
                </a:solidFill>
                <a:latin typeface="Times New Roman MT"/>
                <a:ea typeface="Times New Roman MT"/>
                <a:cs typeface="Times New Roman MT"/>
                <a:sym typeface="Times New Roman MT"/>
              </a:rPr>
              <a:t>JISMY C JOSEPH</a:t>
            </a:r>
          </a:p>
        </p:txBody>
      </p:sp>
      <p:sp>
        <p:nvSpPr>
          <p:cNvPr name="TextBox 12" id="12"/>
          <p:cNvSpPr txBox="true"/>
          <p:nvPr/>
        </p:nvSpPr>
        <p:spPr>
          <a:xfrm rot="0">
            <a:off x="7147172" y="8522653"/>
            <a:ext cx="3470970" cy="633452"/>
          </a:xfrm>
          <a:prstGeom prst="rect">
            <a:avLst/>
          </a:prstGeom>
        </p:spPr>
        <p:txBody>
          <a:bodyPr anchor="t" rtlCol="false" tIns="0" lIns="0" bIns="0" rIns="0">
            <a:spAutoFit/>
          </a:bodyPr>
          <a:lstStyle/>
          <a:p>
            <a:pPr algn="ctr">
              <a:lnSpc>
                <a:spcPts val="4534"/>
              </a:lnSpc>
              <a:spcBef>
                <a:spcPct val="0"/>
              </a:spcBef>
            </a:pPr>
            <a:r>
              <a:rPr lang="en-US" sz="3434" spc="-168">
                <a:solidFill>
                  <a:srgbClr val="FFFFFF"/>
                </a:solidFill>
                <a:latin typeface="Times New Roman MT"/>
                <a:ea typeface="Times New Roman MT"/>
                <a:cs typeface="Times New Roman MT"/>
                <a:sym typeface="Times New Roman MT"/>
              </a:rPr>
              <a:t>SNEHA ROSE C . J</a:t>
            </a:r>
          </a:p>
        </p:txBody>
      </p:sp>
      <p:sp>
        <p:nvSpPr>
          <p:cNvPr name="TextBox 13" id="13"/>
          <p:cNvSpPr txBox="true"/>
          <p:nvPr/>
        </p:nvSpPr>
        <p:spPr>
          <a:xfrm rot="0">
            <a:off x="7557863" y="7872813"/>
            <a:ext cx="2522637" cy="633452"/>
          </a:xfrm>
          <a:prstGeom prst="rect">
            <a:avLst/>
          </a:prstGeom>
        </p:spPr>
        <p:txBody>
          <a:bodyPr anchor="t" rtlCol="false" tIns="0" lIns="0" bIns="0" rIns="0">
            <a:spAutoFit/>
          </a:bodyPr>
          <a:lstStyle/>
          <a:p>
            <a:pPr algn="ctr">
              <a:lnSpc>
                <a:spcPts val="4534"/>
              </a:lnSpc>
              <a:spcBef>
                <a:spcPct val="0"/>
              </a:spcBef>
            </a:pPr>
            <a:r>
              <a:rPr lang="en-US" sz="3434" spc="-168">
                <a:solidFill>
                  <a:srgbClr val="FFFFFF"/>
                </a:solidFill>
                <a:latin typeface="Times New Roman MT"/>
                <a:ea typeface="Times New Roman MT"/>
                <a:cs typeface="Times New Roman MT"/>
                <a:sym typeface="Times New Roman MT"/>
              </a:rPr>
              <a:t>ANAGHA VS</a:t>
            </a:r>
          </a:p>
        </p:txBody>
      </p:sp>
      <p:sp>
        <p:nvSpPr>
          <p:cNvPr name="TextBox 14" id="14"/>
          <p:cNvSpPr txBox="true"/>
          <p:nvPr/>
        </p:nvSpPr>
        <p:spPr>
          <a:xfrm rot="0">
            <a:off x="7319663" y="5633305"/>
            <a:ext cx="3125986" cy="611354"/>
          </a:xfrm>
          <a:prstGeom prst="rect">
            <a:avLst/>
          </a:prstGeom>
        </p:spPr>
        <p:txBody>
          <a:bodyPr anchor="t" rtlCol="false" tIns="0" lIns="0" bIns="0" rIns="0">
            <a:spAutoFit/>
          </a:bodyPr>
          <a:lstStyle/>
          <a:p>
            <a:pPr algn="ctr">
              <a:lnSpc>
                <a:spcPts val="4798"/>
              </a:lnSpc>
              <a:spcBef>
                <a:spcPct val="0"/>
              </a:spcBef>
            </a:pPr>
            <a:r>
              <a:rPr lang="en-US" sz="3634" spc="-178" u="sng">
                <a:solidFill>
                  <a:srgbClr val="FFFFFF"/>
                </a:solidFill>
                <a:latin typeface="Times New Roman"/>
                <a:ea typeface="Times New Roman"/>
                <a:cs typeface="Times New Roman"/>
                <a:sym typeface="Times New Roman"/>
              </a:rPr>
              <a:t>SUBMITTED BY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387844" y="1458091"/>
            <a:ext cx="7512311" cy="1666875"/>
          </a:xfrm>
          <a:prstGeom prst="rect">
            <a:avLst/>
          </a:prstGeom>
        </p:spPr>
        <p:txBody>
          <a:bodyPr anchor="t" rtlCol="false" tIns="0" lIns="0" bIns="0" rIns="0">
            <a:spAutoFit/>
          </a:bodyPr>
          <a:lstStyle/>
          <a:p>
            <a:pPr algn="l">
              <a:lnSpc>
                <a:spcPts val="13199"/>
              </a:lnSpc>
            </a:pPr>
            <a:r>
              <a:rPr lang="en-US" sz="9999" spc="-489">
                <a:solidFill>
                  <a:srgbClr val="38B6FF"/>
                </a:solidFill>
                <a:latin typeface="Times New Roman"/>
                <a:ea typeface="Times New Roman"/>
                <a:cs typeface="Times New Roman"/>
                <a:sym typeface="Times New Roman"/>
              </a:rPr>
              <a:t>ABSTRACT</a:t>
            </a:r>
          </a:p>
        </p:txBody>
      </p:sp>
      <p:sp>
        <p:nvSpPr>
          <p:cNvPr name="TextBox 3" id="3"/>
          <p:cNvSpPr txBox="true"/>
          <p:nvPr/>
        </p:nvSpPr>
        <p:spPr>
          <a:xfrm rot="0">
            <a:off x="1412153" y="3644001"/>
            <a:ext cx="15463693" cy="4469130"/>
          </a:xfrm>
          <a:prstGeom prst="rect">
            <a:avLst/>
          </a:prstGeom>
        </p:spPr>
        <p:txBody>
          <a:bodyPr anchor="t" rtlCol="false" tIns="0" lIns="0" bIns="0" rIns="0">
            <a:spAutoFit/>
          </a:bodyPr>
          <a:lstStyle/>
          <a:p>
            <a:pPr algn="just">
              <a:lnSpc>
                <a:spcPts val="3960"/>
              </a:lnSpc>
            </a:pPr>
            <a:r>
              <a:rPr lang="en-US" sz="3000" spc="-147">
                <a:solidFill>
                  <a:srgbClr val="C1D6F4"/>
                </a:solidFill>
                <a:latin typeface="Times New Roman"/>
                <a:ea typeface="Times New Roman"/>
                <a:cs typeface="Times New Roman"/>
                <a:sym typeface="Times New Roman"/>
              </a:rPr>
              <a:t>The main objective of the AI Student Study Tracker System is to develop a web-based platform that enables students to record and monitor their daily study activities efficiently. The system aims to analyze study patterns using machine learning techniques and categorize students based on their performance and learning behavior. It focuses on providing clear visual insights through interactive dashboards and graphs to help students understand their progress. Additionally, the system helps identify strengths and areas that require improvement, encouraging better learning strategies. It also includes an admin module for managing datasets, monitoring system performance, and maintaining accuracy. Designed with a user-friendly interface, the project aims to simplify study tracking while promoting consistency, productivity, and improved academic outcomes.</a:t>
            </a:r>
          </a:p>
          <a:p>
            <a:pPr algn="just">
              <a:lnSpc>
                <a:spcPts val="396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3529269" y="349865"/>
            <a:ext cx="4258605" cy="4768786"/>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49537" t="0" r="-49537" b="0"/>
              </a:stretch>
            </a:blipFill>
          </p:spPr>
        </p:sp>
      </p:grpSp>
      <p:grpSp>
        <p:nvGrpSpPr>
          <p:cNvPr name="Group 5" id="5"/>
          <p:cNvGrpSpPr/>
          <p:nvPr/>
        </p:nvGrpSpPr>
        <p:grpSpPr>
          <a:xfrm rot="0">
            <a:off x="8710202" y="374714"/>
            <a:ext cx="4258605" cy="4768786"/>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68075" t="0" r="0" b="0"/>
              </a:stretch>
            </a:blipFill>
          </p:spPr>
        </p:sp>
      </p:grpSp>
      <p:sp>
        <p:nvSpPr>
          <p:cNvPr name="TextBox 7" id="7"/>
          <p:cNvSpPr txBox="true"/>
          <p:nvPr/>
        </p:nvSpPr>
        <p:spPr>
          <a:xfrm rot="0">
            <a:off x="855123" y="1367870"/>
            <a:ext cx="7855079" cy="3333750"/>
          </a:xfrm>
          <a:prstGeom prst="rect">
            <a:avLst/>
          </a:prstGeom>
        </p:spPr>
        <p:txBody>
          <a:bodyPr anchor="t" rtlCol="false" tIns="0" lIns="0" bIns="0" rIns="0">
            <a:spAutoFit/>
          </a:bodyPr>
          <a:lstStyle/>
          <a:p>
            <a:pPr algn="l">
              <a:lnSpc>
                <a:spcPts val="13199"/>
              </a:lnSpc>
            </a:pPr>
            <a:r>
              <a:rPr lang="en-US" sz="9999" spc="-489">
                <a:solidFill>
                  <a:srgbClr val="38B6FF"/>
                </a:solidFill>
                <a:latin typeface="Times New Roman"/>
                <a:ea typeface="Times New Roman"/>
                <a:cs typeface="Times New Roman"/>
                <a:sym typeface="Times New Roman"/>
              </a:rPr>
              <a:t>PROBLEM STATMENT</a:t>
            </a:r>
          </a:p>
        </p:txBody>
      </p:sp>
      <p:sp>
        <p:nvSpPr>
          <p:cNvPr name="TextBox 8" id="8"/>
          <p:cNvSpPr txBox="true"/>
          <p:nvPr/>
        </p:nvSpPr>
        <p:spPr>
          <a:xfrm rot="0">
            <a:off x="768528" y="7635875"/>
            <a:ext cx="3626130" cy="1622425"/>
          </a:xfrm>
          <a:prstGeom prst="rect">
            <a:avLst/>
          </a:prstGeom>
        </p:spPr>
        <p:txBody>
          <a:bodyPr anchor="t" rtlCol="false" tIns="0" lIns="0" bIns="0" rIns="0">
            <a:spAutoFit/>
          </a:bodyPr>
          <a:lstStyle/>
          <a:p>
            <a:pPr algn="just">
              <a:lnSpc>
                <a:spcPts val="2599"/>
              </a:lnSpc>
            </a:pPr>
            <a:r>
              <a:rPr lang="en-US" sz="1999" spc="-59">
                <a:solidFill>
                  <a:srgbClr val="FFFFFF"/>
                </a:solidFill>
                <a:latin typeface="Times New Roman"/>
                <a:ea typeface="Times New Roman"/>
                <a:cs typeface="Times New Roman"/>
                <a:sym typeface="Times New Roman"/>
              </a:rPr>
              <a:t>Students often struggle to understand their own study patterns and lack personalized guidance on how to improve their academic performance effectively.</a:t>
            </a:r>
          </a:p>
        </p:txBody>
      </p:sp>
      <p:sp>
        <p:nvSpPr>
          <p:cNvPr name="TextBox 9" id="9"/>
          <p:cNvSpPr txBox="true"/>
          <p:nvPr/>
        </p:nvSpPr>
        <p:spPr>
          <a:xfrm rot="0">
            <a:off x="800716" y="6392272"/>
            <a:ext cx="3974816" cy="1002030"/>
          </a:xfrm>
          <a:prstGeom prst="rect">
            <a:avLst/>
          </a:prstGeom>
        </p:spPr>
        <p:txBody>
          <a:bodyPr anchor="t" rtlCol="false" tIns="0" lIns="0" bIns="0" rIns="0">
            <a:spAutoFit/>
          </a:bodyPr>
          <a:lstStyle/>
          <a:p>
            <a:pPr algn="l">
              <a:lnSpc>
                <a:spcPts val="3960"/>
              </a:lnSpc>
            </a:pPr>
            <a:r>
              <a:rPr lang="en-US" sz="3000" spc="-147">
                <a:solidFill>
                  <a:srgbClr val="38B6FF"/>
                </a:solidFill>
                <a:latin typeface="Times New Roman"/>
                <a:ea typeface="Times New Roman"/>
                <a:cs typeface="Times New Roman"/>
                <a:sym typeface="Times New Roman"/>
              </a:rPr>
              <a:t>LACK OF SELF-AWARENESS:</a:t>
            </a:r>
          </a:p>
        </p:txBody>
      </p:sp>
      <p:sp>
        <p:nvSpPr>
          <p:cNvPr name="TextBox 10" id="10"/>
          <p:cNvSpPr txBox="true"/>
          <p:nvPr/>
        </p:nvSpPr>
        <p:spPr>
          <a:xfrm rot="0">
            <a:off x="5080458" y="7738340"/>
            <a:ext cx="3626130" cy="1622425"/>
          </a:xfrm>
          <a:prstGeom prst="rect">
            <a:avLst/>
          </a:prstGeom>
        </p:spPr>
        <p:txBody>
          <a:bodyPr anchor="t" rtlCol="false" tIns="0" lIns="0" bIns="0" rIns="0">
            <a:spAutoFit/>
          </a:bodyPr>
          <a:lstStyle/>
          <a:p>
            <a:pPr algn="just">
              <a:lnSpc>
                <a:spcPts val="2599"/>
              </a:lnSpc>
            </a:pPr>
            <a:r>
              <a:rPr lang="en-US" sz="1999" spc="-59">
                <a:solidFill>
                  <a:srgbClr val="FFFFFF"/>
                </a:solidFill>
                <a:latin typeface="Times New Roman"/>
                <a:ea typeface="Times New Roman"/>
                <a:cs typeface="Times New Roman"/>
                <a:sym typeface="Times New Roman"/>
              </a:rPr>
              <a:t>Traditi</a:t>
            </a:r>
            <a:r>
              <a:rPr lang="en-US" sz="1999" spc="-59">
                <a:solidFill>
                  <a:srgbClr val="FFFFFF"/>
                </a:solidFill>
                <a:latin typeface="Times New Roman"/>
                <a:ea typeface="Times New Roman"/>
                <a:cs typeface="Times New Roman"/>
                <a:sym typeface="Times New Roman"/>
              </a:rPr>
              <a:t>onal education systems do not provide tools for tracking individual study habits, making it difficult to identify students who are falling behind or disengaged.</a:t>
            </a:r>
          </a:p>
        </p:txBody>
      </p:sp>
      <p:sp>
        <p:nvSpPr>
          <p:cNvPr name="TextBox 11" id="11"/>
          <p:cNvSpPr txBox="true"/>
          <p:nvPr/>
        </p:nvSpPr>
        <p:spPr>
          <a:xfrm rot="0">
            <a:off x="5080458" y="6422290"/>
            <a:ext cx="3275792" cy="1020775"/>
          </a:xfrm>
          <a:prstGeom prst="rect">
            <a:avLst/>
          </a:prstGeom>
        </p:spPr>
        <p:txBody>
          <a:bodyPr anchor="t" rtlCol="false" tIns="0" lIns="0" bIns="0" rIns="0">
            <a:spAutoFit/>
          </a:bodyPr>
          <a:lstStyle/>
          <a:p>
            <a:pPr algn="l">
              <a:lnSpc>
                <a:spcPts val="3986"/>
              </a:lnSpc>
            </a:pPr>
            <a:r>
              <a:rPr lang="en-US" sz="3019" spc="-147">
                <a:solidFill>
                  <a:srgbClr val="38B6FF"/>
                </a:solidFill>
                <a:latin typeface="Times New Roman"/>
                <a:ea typeface="Times New Roman"/>
                <a:cs typeface="Times New Roman"/>
                <a:sym typeface="Times New Roman"/>
              </a:rPr>
              <a:t>NO TRACKING SYSTEM:</a:t>
            </a:r>
          </a:p>
        </p:txBody>
      </p:sp>
      <p:sp>
        <p:nvSpPr>
          <p:cNvPr name="TextBox 12" id="12"/>
          <p:cNvSpPr txBox="true"/>
          <p:nvPr/>
        </p:nvSpPr>
        <p:spPr>
          <a:xfrm rot="0">
            <a:off x="9392388" y="7738340"/>
            <a:ext cx="3626130" cy="1622425"/>
          </a:xfrm>
          <a:prstGeom prst="rect">
            <a:avLst/>
          </a:prstGeom>
        </p:spPr>
        <p:txBody>
          <a:bodyPr anchor="t" rtlCol="false" tIns="0" lIns="0" bIns="0" rIns="0">
            <a:spAutoFit/>
          </a:bodyPr>
          <a:lstStyle/>
          <a:p>
            <a:pPr algn="just">
              <a:lnSpc>
                <a:spcPts val="2599"/>
              </a:lnSpc>
            </a:pPr>
            <a:r>
              <a:rPr lang="en-US" sz="1999" spc="-59">
                <a:solidFill>
                  <a:srgbClr val="FFFFFF"/>
                </a:solidFill>
                <a:latin typeface="Times New Roman"/>
                <a:ea typeface="Times New Roman"/>
                <a:cs typeface="Times New Roman"/>
                <a:sym typeface="Times New Roman"/>
              </a:rPr>
              <a:t>Without data-driven insights, teachers and administrators are unable to take timely action to support students based on their actual behavior and performance patterns.</a:t>
            </a:r>
          </a:p>
        </p:txBody>
      </p:sp>
      <p:sp>
        <p:nvSpPr>
          <p:cNvPr name="TextBox 13" id="13"/>
          <p:cNvSpPr txBox="true"/>
          <p:nvPr/>
        </p:nvSpPr>
        <p:spPr>
          <a:xfrm rot="0">
            <a:off x="9397327" y="6392272"/>
            <a:ext cx="3988088" cy="1002030"/>
          </a:xfrm>
          <a:prstGeom prst="rect">
            <a:avLst/>
          </a:prstGeom>
        </p:spPr>
        <p:txBody>
          <a:bodyPr anchor="t" rtlCol="false" tIns="0" lIns="0" bIns="0" rIns="0">
            <a:spAutoFit/>
          </a:bodyPr>
          <a:lstStyle/>
          <a:p>
            <a:pPr algn="l">
              <a:lnSpc>
                <a:spcPts val="3960"/>
              </a:lnSpc>
            </a:pPr>
            <a:r>
              <a:rPr lang="en-US" sz="3000" spc="-147">
                <a:solidFill>
                  <a:srgbClr val="38B6FF"/>
                </a:solidFill>
                <a:latin typeface="Times New Roman"/>
                <a:ea typeface="Times New Roman"/>
                <a:cs typeface="Times New Roman"/>
                <a:sym typeface="Times New Roman"/>
              </a:rPr>
              <a:t>NO DATA-DRIVEN INSIGHTS:</a:t>
            </a:r>
          </a:p>
        </p:txBody>
      </p:sp>
      <p:sp>
        <p:nvSpPr>
          <p:cNvPr name="TextBox 14" id="14"/>
          <p:cNvSpPr txBox="true"/>
          <p:nvPr/>
        </p:nvSpPr>
        <p:spPr>
          <a:xfrm rot="0">
            <a:off x="13704318" y="7738340"/>
            <a:ext cx="4022806" cy="1946275"/>
          </a:xfrm>
          <a:prstGeom prst="rect">
            <a:avLst/>
          </a:prstGeom>
        </p:spPr>
        <p:txBody>
          <a:bodyPr anchor="t" rtlCol="false" tIns="0" lIns="0" bIns="0" rIns="0">
            <a:spAutoFit/>
          </a:bodyPr>
          <a:lstStyle/>
          <a:p>
            <a:pPr algn="just">
              <a:lnSpc>
                <a:spcPts val="2599"/>
              </a:lnSpc>
            </a:pPr>
            <a:r>
              <a:rPr lang="en-US" sz="1999" spc="-59">
                <a:solidFill>
                  <a:srgbClr val="FFFFFF"/>
                </a:solidFill>
                <a:latin typeface="Times New Roman"/>
                <a:ea typeface="Times New Roman"/>
                <a:cs typeface="Times New Roman"/>
                <a:sym typeface="Times New Roman"/>
              </a:rPr>
              <a:t>There is a growing need for an intelligent system that can automatically analyze student data, group them based on similar behavior, and deliver targeted recommendations to help each student reach their full potential.</a:t>
            </a:r>
          </a:p>
        </p:txBody>
      </p:sp>
      <p:sp>
        <p:nvSpPr>
          <p:cNvPr name="TextBox 15" id="15"/>
          <p:cNvSpPr txBox="true"/>
          <p:nvPr/>
        </p:nvSpPr>
        <p:spPr>
          <a:xfrm rot="0">
            <a:off x="13647168" y="6392272"/>
            <a:ext cx="5125226" cy="1002030"/>
          </a:xfrm>
          <a:prstGeom prst="rect">
            <a:avLst/>
          </a:prstGeom>
        </p:spPr>
        <p:txBody>
          <a:bodyPr anchor="t" rtlCol="false" tIns="0" lIns="0" bIns="0" rIns="0">
            <a:spAutoFit/>
          </a:bodyPr>
          <a:lstStyle/>
          <a:p>
            <a:pPr algn="l">
              <a:lnSpc>
                <a:spcPts val="3960"/>
              </a:lnSpc>
            </a:pPr>
            <a:r>
              <a:rPr lang="en-US" sz="3000" spc="-147">
                <a:solidFill>
                  <a:srgbClr val="38B6FF"/>
                </a:solidFill>
                <a:latin typeface="Times New Roman"/>
                <a:ea typeface="Times New Roman"/>
                <a:cs typeface="Times New Roman"/>
                <a:sym typeface="Times New Roman"/>
              </a:rPr>
              <a:t>NEED FOR INTELLIGENT SOLUTION: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3581514" y="1028700"/>
            <a:ext cx="7349169" cy="822960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sp>
        <p:nvSpPr>
          <p:cNvPr name="Freeform 5" id="5"/>
          <p:cNvSpPr/>
          <p:nvPr/>
        </p:nvSpPr>
        <p:spPr>
          <a:xfrm flipH="false" flipV="true" rot="0">
            <a:off x="8661676" y="878594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5400000">
            <a:off x="-2296708" y="3922004"/>
            <a:ext cx="7813528" cy="2026920"/>
          </a:xfrm>
          <a:prstGeom prst="rect">
            <a:avLst/>
          </a:prstGeom>
        </p:spPr>
        <p:txBody>
          <a:bodyPr anchor="t" rtlCol="false" tIns="0" lIns="0" bIns="0" rIns="0">
            <a:spAutoFit/>
          </a:bodyPr>
          <a:lstStyle/>
          <a:p>
            <a:pPr algn="l">
              <a:lnSpc>
                <a:spcPts val="15840"/>
              </a:lnSpc>
            </a:pPr>
            <a:r>
              <a:rPr lang="en-US" sz="12000" spc="-588">
                <a:solidFill>
                  <a:srgbClr val="38B6FF"/>
                </a:solidFill>
                <a:latin typeface="Times New Roman"/>
                <a:ea typeface="Times New Roman"/>
                <a:cs typeface="Times New Roman"/>
                <a:sym typeface="Times New Roman"/>
              </a:rPr>
              <a:t>OBJECTIVE</a:t>
            </a:r>
          </a:p>
        </p:txBody>
      </p:sp>
      <p:sp>
        <p:nvSpPr>
          <p:cNvPr name="TextBox 7" id="7"/>
          <p:cNvSpPr txBox="true"/>
          <p:nvPr/>
        </p:nvSpPr>
        <p:spPr>
          <a:xfrm rot="0">
            <a:off x="12205136" y="1488831"/>
            <a:ext cx="4948383" cy="2593975"/>
          </a:xfrm>
          <a:prstGeom prst="rect">
            <a:avLst/>
          </a:prstGeom>
        </p:spPr>
        <p:txBody>
          <a:bodyPr anchor="t" rtlCol="false" tIns="0" lIns="0" bIns="0" rIns="0">
            <a:spAutoFit/>
          </a:bodyPr>
          <a:lstStyle/>
          <a:p>
            <a:pPr algn="just">
              <a:lnSpc>
                <a:spcPts val="2599"/>
              </a:lnSpc>
            </a:pPr>
            <a:r>
              <a:rPr lang="en-US" sz="1999" spc="-59">
                <a:solidFill>
                  <a:srgbClr val="FFFFFF"/>
                </a:solidFill>
                <a:latin typeface="Times New Roman"/>
                <a:ea typeface="Times New Roman"/>
                <a:cs typeface="Times New Roman"/>
                <a:sym typeface="Times New Roman"/>
              </a:rPr>
              <a:t>To build an AI-powered web application that tracks student study behavior and uses KMeans clustering to group students based on their academic performance patterns. The system aims to bridge the gap between raw student data and actionable insights by automating the analysis process and delivering results through an interactive web interface.</a:t>
            </a:r>
          </a:p>
        </p:txBody>
      </p:sp>
      <p:sp>
        <p:nvSpPr>
          <p:cNvPr name="TextBox 8" id="8"/>
          <p:cNvSpPr txBox="true"/>
          <p:nvPr/>
        </p:nvSpPr>
        <p:spPr>
          <a:xfrm rot="0">
            <a:off x="12205136" y="746760"/>
            <a:ext cx="4393037" cy="506730"/>
          </a:xfrm>
          <a:prstGeom prst="rect">
            <a:avLst/>
          </a:prstGeom>
        </p:spPr>
        <p:txBody>
          <a:bodyPr anchor="t" rtlCol="false" tIns="0" lIns="0" bIns="0" rIns="0">
            <a:spAutoFit/>
          </a:bodyPr>
          <a:lstStyle/>
          <a:p>
            <a:pPr algn="l">
              <a:lnSpc>
                <a:spcPts val="3960"/>
              </a:lnSpc>
            </a:pPr>
            <a:r>
              <a:rPr lang="en-US" sz="3000" spc="-147">
                <a:solidFill>
                  <a:srgbClr val="38B6FF"/>
                </a:solidFill>
                <a:latin typeface="Times New Roman"/>
                <a:ea typeface="Times New Roman"/>
                <a:cs typeface="Times New Roman"/>
                <a:sym typeface="Times New Roman"/>
              </a:rPr>
              <a:t>SYSTEM DEVELOPMENT:</a:t>
            </a:r>
          </a:p>
        </p:txBody>
      </p:sp>
      <p:sp>
        <p:nvSpPr>
          <p:cNvPr name="TextBox 9" id="9"/>
          <p:cNvSpPr txBox="true"/>
          <p:nvPr/>
        </p:nvSpPr>
        <p:spPr>
          <a:xfrm rot="0">
            <a:off x="12205136" y="4982377"/>
            <a:ext cx="4948383" cy="1786890"/>
          </a:xfrm>
          <a:prstGeom prst="rect">
            <a:avLst/>
          </a:prstGeom>
        </p:spPr>
        <p:txBody>
          <a:bodyPr anchor="t" rtlCol="false" tIns="0" lIns="0" bIns="0" rIns="0">
            <a:spAutoFit/>
          </a:bodyPr>
          <a:lstStyle/>
          <a:p>
            <a:pPr algn="just">
              <a:lnSpc>
                <a:spcPts val="2339"/>
              </a:lnSpc>
            </a:pPr>
            <a:r>
              <a:rPr lang="en-US" sz="1799" spc="-53">
                <a:solidFill>
                  <a:srgbClr val="FFFFFF"/>
                </a:solidFill>
                <a:latin typeface="Times New Roman"/>
                <a:ea typeface="Times New Roman"/>
                <a:cs typeface="Times New Roman"/>
                <a:sym typeface="Times New Roman"/>
              </a:rPr>
              <a:t>To provide each student with personalized study recommendations, optimal study schedules, and progress tracking tools based on their assigned cluster group. Students can also log their daily study sessions and monitor their own improvement over time through visual charts and performance summaries.</a:t>
            </a:r>
          </a:p>
        </p:txBody>
      </p:sp>
      <p:sp>
        <p:nvSpPr>
          <p:cNvPr name="TextBox 10" id="10"/>
          <p:cNvSpPr txBox="true"/>
          <p:nvPr/>
        </p:nvSpPr>
        <p:spPr>
          <a:xfrm rot="0">
            <a:off x="12205136" y="4247047"/>
            <a:ext cx="5920057" cy="506730"/>
          </a:xfrm>
          <a:prstGeom prst="rect">
            <a:avLst/>
          </a:prstGeom>
        </p:spPr>
        <p:txBody>
          <a:bodyPr anchor="t" rtlCol="false" tIns="0" lIns="0" bIns="0" rIns="0">
            <a:spAutoFit/>
          </a:bodyPr>
          <a:lstStyle/>
          <a:p>
            <a:pPr algn="l">
              <a:lnSpc>
                <a:spcPts val="3960"/>
              </a:lnSpc>
            </a:pPr>
            <a:r>
              <a:rPr lang="en-US" sz="3000" spc="-147">
                <a:solidFill>
                  <a:srgbClr val="38B6FF"/>
                </a:solidFill>
                <a:latin typeface="Times New Roman"/>
                <a:ea typeface="Times New Roman"/>
                <a:cs typeface="Times New Roman"/>
                <a:sym typeface="Times New Roman"/>
              </a:rPr>
              <a:t>STUDENT EMPOWERMENT:</a:t>
            </a:r>
          </a:p>
        </p:txBody>
      </p:sp>
      <p:sp>
        <p:nvSpPr>
          <p:cNvPr name="TextBox 11" id="11"/>
          <p:cNvSpPr txBox="true"/>
          <p:nvPr/>
        </p:nvSpPr>
        <p:spPr>
          <a:xfrm rot="0">
            <a:off x="12205136" y="7693573"/>
            <a:ext cx="5054164" cy="1294130"/>
          </a:xfrm>
          <a:prstGeom prst="rect">
            <a:avLst/>
          </a:prstGeom>
        </p:spPr>
        <p:txBody>
          <a:bodyPr anchor="t" rtlCol="false" tIns="0" lIns="0" bIns="0" rIns="0">
            <a:spAutoFit/>
          </a:bodyPr>
          <a:lstStyle/>
          <a:p>
            <a:pPr algn="just">
              <a:lnSpc>
                <a:spcPts val="2079"/>
              </a:lnSpc>
            </a:pPr>
            <a:r>
              <a:rPr lang="en-US" sz="1599" spc="-47">
                <a:solidFill>
                  <a:srgbClr val="FFFFFF"/>
                </a:solidFill>
                <a:latin typeface="Times New Roman"/>
                <a:ea typeface="Times New Roman"/>
                <a:cs typeface="Times New Roman"/>
                <a:sym typeface="Times New Roman"/>
              </a:rPr>
              <a:t>To give administrators a powerful dashboard to monitor student activity, manage datasets, and retrain the clustering model in real time. Admins can gain data-driven insights into overall student performance, identify struggling groups, and take timely action to improve academic outcomes across the institution.</a:t>
            </a:r>
          </a:p>
        </p:txBody>
      </p:sp>
      <p:sp>
        <p:nvSpPr>
          <p:cNvPr name="TextBox 12" id="12"/>
          <p:cNvSpPr txBox="true"/>
          <p:nvPr/>
        </p:nvSpPr>
        <p:spPr>
          <a:xfrm rot="0">
            <a:off x="12205136" y="6931192"/>
            <a:ext cx="5674765" cy="524256"/>
          </a:xfrm>
          <a:prstGeom prst="rect">
            <a:avLst/>
          </a:prstGeom>
        </p:spPr>
        <p:txBody>
          <a:bodyPr anchor="t" rtlCol="false" tIns="0" lIns="0" bIns="0" rIns="0">
            <a:spAutoFit/>
          </a:bodyPr>
          <a:lstStyle/>
          <a:p>
            <a:pPr algn="l">
              <a:lnSpc>
                <a:spcPts val="4092"/>
              </a:lnSpc>
            </a:pPr>
            <a:r>
              <a:rPr lang="en-US" sz="3100" spc="-151">
                <a:solidFill>
                  <a:srgbClr val="38B6FF"/>
                </a:solidFill>
                <a:latin typeface="Times New Roman"/>
                <a:ea typeface="Times New Roman"/>
                <a:cs typeface="Times New Roman"/>
                <a:sym typeface="Times New Roman"/>
              </a:rPr>
              <a:t>ADMIN CONTROL &amp; INSIGHTS: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2820991" y="3802348"/>
            <a:ext cx="4438309" cy="5231168"/>
            <a:chOff x="0" y="0"/>
            <a:chExt cx="5555552" cy="6547996"/>
          </a:xfrm>
        </p:grpSpPr>
        <p:sp>
          <p:nvSpPr>
            <p:cNvPr name="Freeform 4" id="4"/>
            <p:cNvSpPr/>
            <p:nvPr/>
          </p:nvSpPr>
          <p:spPr>
            <a:xfrm flipH="false" flipV="false" rot="0">
              <a:off x="0" y="0"/>
              <a:ext cx="5555552" cy="6547996"/>
            </a:xfrm>
            <a:custGeom>
              <a:avLst/>
              <a:gdLst/>
              <a:ahLst/>
              <a:cxnLst/>
              <a:rect r="r" b="b" t="t" l="l"/>
              <a:pathLst>
                <a:path h="6547996" w="5555552">
                  <a:moveTo>
                    <a:pt x="5555552" y="4328297"/>
                  </a:moveTo>
                  <a:lnTo>
                    <a:pt x="0" y="6547996"/>
                  </a:lnTo>
                  <a:lnTo>
                    <a:pt x="0" y="2219699"/>
                  </a:lnTo>
                  <a:lnTo>
                    <a:pt x="5555552" y="0"/>
                  </a:lnTo>
                  <a:close/>
                </a:path>
              </a:pathLst>
            </a:custGeom>
            <a:blipFill>
              <a:blip r:embed="rId3"/>
              <a:stretch>
                <a:fillRect l="-38453" t="0" r="-38453" b="0"/>
              </a:stretch>
            </a:blipFill>
          </p:spPr>
        </p:sp>
      </p:grpSp>
      <p:grpSp>
        <p:nvGrpSpPr>
          <p:cNvPr name="Group 5" id="5"/>
          <p:cNvGrpSpPr/>
          <p:nvPr/>
        </p:nvGrpSpPr>
        <p:grpSpPr>
          <a:xfrm rot="0">
            <a:off x="12092756" y="855601"/>
            <a:ext cx="4243198" cy="4751533"/>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62946" y="1066639"/>
            <a:ext cx="8965658" cy="1685917"/>
          </a:xfrm>
          <a:prstGeom prst="rect">
            <a:avLst/>
          </a:prstGeom>
        </p:spPr>
        <p:txBody>
          <a:bodyPr anchor="t" rtlCol="false" tIns="0" lIns="0" bIns="0" rIns="0">
            <a:spAutoFit/>
          </a:bodyPr>
          <a:lstStyle/>
          <a:p>
            <a:pPr algn="l">
              <a:lnSpc>
                <a:spcPts val="13200"/>
              </a:lnSpc>
            </a:pPr>
            <a:r>
              <a:rPr lang="en-US" sz="10000" spc="-490">
                <a:solidFill>
                  <a:srgbClr val="38B6FF"/>
                </a:solidFill>
                <a:latin typeface="Times New Roman"/>
                <a:ea typeface="Times New Roman"/>
                <a:cs typeface="Times New Roman"/>
                <a:sym typeface="Times New Roman"/>
              </a:rPr>
              <a:t>TECH STACK</a:t>
            </a:r>
          </a:p>
        </p:txBody>
      </p:sp>
      <p:sp>
        <p:nvSpPr>
          <p:cNvPr name="TextBox 9" id="9"/>
          <p:cNvSpPr txBox="true"/>
          <p:nvPr/>
        </p:nvSpPr>
        <p:spPr>
          <a:xfrm rot="0">
            <a:off x="1028700" y="2914320"/>
            <a:ext cx="10856792" cy="6969125"/>
          </a:xfrm>
          <a:prstGeom prst="rect">
            <a:avLst/>
          </a:prstGeom>
        </p:spPr>
        <p:txBody>
          <a:bodyPr anchor="t" rtlCol="false" tIns="0" lIns="0" bIns="0" rIns="0">
            <a:spAutoFit/>
          </a:bodyPr>
          <a:lstStyle/>
          <a:p>
            <a:pPr algn="l">
              <a:lnSpc>
                <a:spcPts val="3249"/>
              </a:lnSpc>
            </a:pPr>
            <a:r>
              <a:rPr lang="en-US" sz="2499" spc="-74">
                <a:solidFill>
                  <a:srgbClr val="FFFFFF"/>
                </a:solidFill>
                <a:latin typeface="Times New Roman"/>
                <a:ea typeface="Times New Roman"/>
                <a:cs typeface="Times New Roman"/>
                <a:sym typeface="Times New Roman"/>
              </a:rPr>
              <a:t>Frontend &amp; UI</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Streamlit — used to build the entire web application interface and navigation</a:t>
            </a:r>
          </a:p>
          <a:p>
            <a:pPr algn="l">
              <a:lnSpc>
                <a:spcPts val="3249"/>
              </a:lnSpc>
            </a:pPr>
            <a:r>
              <a:rPr lang="en-US" sz="2499" spc="-74">
                <a:solidFill>
                  <a:srgbClr val="FFFFFF"/>
                </a:solidFill>
                <a:latin typeface="Times New Roman"/>
                <a:ea typeface="Times New Roman"/>
                <a:cs typeface="Times New Roman"/>
                <a:sym typeface="Times New Roman"/>
              </a:rPr>
              <a:t>Machine Learning</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Scikit-learn — KMeans Clustering for student grouping</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Scikit-learn — StandardScaler for data normalization</a:t>
            </a:r>
          </a:p>
          <a:p>
            <a:pPr algn="l">
              <a:lnSpc>
                <a:spcPts val="3249"/>
              </a:lnSpc>
            </a:pPr>
            <a:r>
              <a:rPr lang="en-US" sz="2499" spc="-74">
                <a:solidFill>
                  <a:srgbClr val="FFFFFF"/>
                </a:solidFill>
                <a:latin typeface="Times New Roman"/>
                <a:ea typeface="Times New Roman"/>
                <a:cs typeface="Times New Roman"/>
                <a:sym typeface="Times New Roman"/>
              </a:rPr>
              <a:t>Data Processing</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Pandas — data manipulation and CSV file handling</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NumPy — numerical computations and array operations</a:t>
            </a:r>
          </a:p>
          <a:p>
            <a:pPr algn="l">
              <a:lnSpc>
                <a:spcPts val="3249"/>
              </a:lnSpc>
            </a:pPr>
            <a:r>
              <a:rPr lang="en-US" sz="2499" spc="-74">
                <a:solidFill>
                  <a:srgbClr val="FFFFFF"/>
                </a:solidFill>
                <a:latin typeface="Times New Roman"/>
                <a:ea typeface="Times New Roman"/>
                <a:cs typeface="Times New Roman"/>
                <a:sym typeface="Times New Roman"/>
              </a:rPr>
              <a:t>Visualization</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Plotly Express — interactive charts like scatter plots, line charts and bar charts</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Plotly Graph Objects — advanced charts like radar charts and donut pie charts</a:t>
            </a:r>
          </a:p>
          <a:p>
            <a:pPr algn="l">
              <a:lnSpc>
                <a:spcPts val="3249"/>
              </a:lnSpc>
            </a:pPr>
            <a:r>
              <a:rPr lang="en-US" sz="2499" spc="-74">
                <a:solidFill>
                  <a:srgbClr val="FFFFFF"/>
                </a:solidFill>
                <a:latin typeface="Times New Roman"/>
                <a:ea typeface="Times New Roman"/>
                <a:cs typeface="Times New Roman"/>
                <a:sym typeface="Times New Roman"/>
              </a:rPr>
              <a:t>Authentication &amp; Security</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Hashlib SHA-256 — secure password hashing for login system</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JSON — storing user credentials and cluster configuration</a:t>
            </a:r>
          </a:p>
          <a:p>
            <a:pPr algn="l">
              <a:lnSpc>
                <a:spcPts val="3249"/>
              </a:lnSpc>
            </a:pPr>
            <a:r>
              <a:rPr lang="en-US" sz="2499" spc="-74">
                <a:solidFill>
                  <a:srgbClr val="FFFFFF"/>
                </a:solidFill>
                <a:latin typeface="Times New Roman"/>
                <a:ea typeface="Times New Roman"/>
                <a:cs typeface="Times New Roman"/>
                <a:sym typeface="Times New Roman"/>
              </a:rPr>
              <a:t>Data Storage</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CSV Files — storing student dataset and study session logs</a:t>
            </a:r>
          </a:p>
          <a:p>
            <a:pPr algn="l" marL="539748" indent="-269874" lvl="1">
              <a:lnSpc>
                <a:spcPts val="3249"/>
              </a:lnSpc>
              <a:buFont typeface="Arial"/>
              <a:buChar char="•"/>
            </a:pPr>
            <a:r>
              <a:rPr lang="en-US" sz="2499" spc="-74">
                <a:solidFill>
                  <a:srgbClr val="FFFFFF"/>
                </a:solidFill>
                <a:latin typeface="Times New Roman"/>
                <a:ea typeface="Times New Roman"/>
                <a:cs typeface="Times New Roman"/>
                <a:sym typeface="Times New Roman"/>
              </a:rPr>
              <a:t>JSON Files — storing registered users and cluster config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0089194" y="671451"/>
            <a:ext cx="8218902" cy="8944099"/>
          </a:xfrm>
          <a:custGeom>
            <a:avLst/>
            <a:gdLst/>
            <a:ahLst/>
            <a:cxnLst/>
            <a:rect r="r" b="b" t="t" l="l"/>
            <a:pathLst>
              <a:path h="8944099" w="8218902">
                <a:moveTo>
                  <a:pt x="0" y="0"/>
                </a:moveTo>
                <a:lnTo>
                  <a:pt x="8218901" y="0"/>
                </a:lnTo>
                <a:lnTo>
                  <a:pt x="8218901" y="8944098"/>
                </a:lnTo>
                <a:lnTo>
                  <a:pt x="0" y="89440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58595" y="343844"/>
            <a:ext cx="7500050" cy="3015612"/>
          </a:xfrm>
          <a:prstGeom prst="rect">
            <a:avLst/>
          </a:prstGeom>
        </p:spPr>
        <p:txBody>
          <a:bodyPr anchor="t" rtlCol="false" tIns="0" lIns="0" bIns="0" rIns="0">
            <a:spAutoFit/>
          </a:bodyPr>
          <a:lstStyle/>
          <a:p>
            <a:pPr algn="l">
              <a:lnSpc>
                <a:spcPts val="11880"/>
              </a:lnSpc>
            </a:pPr>
            <a:r>
              <a:rPr lang="en-US" sz="9000" spc="-441">
                <a:solidFill>
                  <a:srgbClr val="38B6FF"/>
                </a:solidFill>
                <a:latin typeface="Times New Roman"/>
                <a:ea typeface="Times New Roman"/>
                <a:cs typeface="Times New Roman"/>
                <a:sym typeface="Times New Roman"/>
              </a:rPr>
              <a:t>SYSTEM ARCHITECURE</a:t>
            </a:r>
          </a:p>
        </p:txBody>
      </p:sp>
      <p:sp>
        <p:nvSpPr>
          <p:cNvPr name="TextBox 5" id="5"/>
          <p:cNvSpPr txBox="true"/>
          <p:nvPr/>
        </p:nvSpPr>
        <p:spPr>
          <a:xfrm rot="0">
            <a:off x="1358595" y="7853172"/>
            <a:ext cx="8730598" cy="1405128"/>
          </a:xfrm>
          <a:prstGeom prst="rect">
            <a:avLst/>
          </a:prstGeom>
        </p:spPr>
        <p:txBody>
          <a:bodyPr anchor="t" rtlCol="false" tIns="0" lIns="0" bIns="0" rIns="0">
            <a:spAutoFit/>
          </a:bodyPr>
          <a:lstStyle/>
          <a:p>
            <a:pPr algn="just">
              <a:lnSpc>
                <a:spcPts val="3696"/>
              </a:lnSpc>
              <a:spcBef>
                <a:spcPct val="0"/>
              </a:spcBef>
            </a:pPr>
            <a:r>
              <a:rPr lang="en-US" sz="2800" spc="-137">
                <a:solidFill>
                  <a:srgbClr val="38B6FF"/>
                </a:solidFill>
                <a:latin typeface="Times New Roman"/>
                <a:ea typeface="Times New Roman"/>
                <a:cs typeface="Times New Roman"/>
                <a:sym typeface="Times New Roman"/>
              </a:rPr>
              <a:t>"M</a:t>
            </a:r>
            <a:r>
              <a:rPr lang="en-US" sz="2800" spc="-137">
                <a:solidFill>
                  <a:srgbClr val="38B6FF"/>
                </a:solidFill>
                <a:latin typeface="Times New Roman"/>
                <a:ea typeface="Times New Roman"/>
                <a:cs typeface="Times New Roman"/>
                <a:sym typeface="Times New Roman"/>
              </a:rPr>
              <a:t>odules are divided based on development scope. After login, students are directed to Module 3 and Module 4, and admins are directed to Module 1 and Module 2 based on their role."</a:t>
            </a:r>
          </a:p>
        </p:txBody>
      </p:sp>
      <p:sp>
        <p:nvSpPr>
          <p:cNvPr name="TextBox 6" id="6"/>
          <p:cNvSpPr txBox="true"/>
          <p:nvPr/>
        </p:nvSpPr>
        <p:spPr>
          <a:xfrm rot="0">
            <a:off x="1358595" y="3502331"/>
            <a:ext cx="8730598" cy="4205478"/>
          </a:xfrm>
          <a:prstGeom prst="rect">
            <a:avLst/>
          </a:prstGeom>
        </p:spPr>
        <p:txBody>
          <a:bodyPr anchor="t" rtlCol="false" tIns="0" lIns="0" bIns="0" rIns="0">
            <a:spAutoFit/>
          </a:bodyPr>
          <a:lstStyle/>
          <a:p>
            <a:pPr algn="just">
              <a:lnSpc>
                <a:spcPts val="3695"/>
              </a:lnSpc>
              <a:spcBef>
                <a:spcPct val="0"/>
              </a:spcBef>
            </a:pPr>
            <a:r>
              <a:rPr lang="en-US" sz="2799" spc="-137">
                <a:solidFill>
                  <a:srgbClr val="E1F5EE"/>
                </a:solidFill>
                <a:latin typeface="Times New Roman"/>
                <a:ea typeface="Times New Roman"/>
                <a:cs typeface="Times New Roman"/>
                <a:sym typeface="Times New Roman"/>
              </a:rPr>
              <a:t>The system architecture of the AI Student Study Tracker System shows how data flows between users, the application, and the database. Students enter their study session details through the web interface, which are stored and processed by the system. Machine learning algorithms analyze this data t</a:t>
            </a:r>
            <a:r>
              <a:rPr lang="en-US" sz="2799" spc="-137">
                <a:solidFill>
                  <a:srgbClr val="E1F5EE"/>
                </a:solidFill>
                <a:latin typeface="Times New Roman"/>
                <a:ea typeface="Times New Roman"/>
                <a:cs typeface="Times New Roman"/>
                <a:sym typeface="Times New Roman"/>
              </a:rPr>
              <a:t>o identify study patterns and categorize performance. The results are displayed through interactive dashboards for easy understanding. The admin module manages data, monitors system activity, and updates the model, ensuring smooth and efficient functioning of the system.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028700" y="4884418"/>
            <a:ext cx="8655986" cy="4849893"/>
          </a:xfrm>
          <a:custGeom>
            <a:avLst/>
            <a:gdLst/>
            <a:ahLst/>
            <a:cxnLst/>
            <a:rect r="r" b="b" t="t" l="l"/>
            <a:pathLst>
              <a:path h="4849893" w="8655986">
                <a:moveTo>
                  <a:pt x="0" y="0"/>
                </a:moveTo>
                <a:lnTo>
                  <a:pt x="8655986" y="0"/>
                </a:lnTo>
                <a:lnTo>
                  <a:pt x="8655986" y="4849893"/>
                </a:lnTo>
                <a:lnTo>
                  <a:pt x="0" y="4849893"/>
                </a:lnTo>
                <a:lnTo>
                  <a:pt x="0" y="0"/>
                </a:lnTo>
                <a:close/>
              </a:path>
            </a:pathLst>
          </a:custGeom>
          <a:blipFill>
            <a:blip r:embed="rId3"/>
            <a:stretch>
              <a:fillRect l="-2816" t="0" r="-24954" b="0"/>
            </a:stretch>
          </a:blipFill>
        </p:spPr>
      </p:sp>
      <p:sp>
        <p:nvSpPr>
          <p:cNvPr name="Freeform 4" id="4"/>
          <p:cNvSpPr/>
          <p:nvPr/>
        </p:nvSpPr>
        <p:spPr>
          <a:xfrm flipH="false" flipV="false" rot="0">
            <a:off x="7180197" y="1028700"/>
            <a:ext cx="8968410" cy="5150013"/>
          </a:xfrm>
          <a:custGeom>
            <a:avLst/>
            <a:gdLst/>
            <a:ahLst/>
            <a:cxnLst/>
            <a:rect r="r" b="b" t="t" l="l"/>
            <a:pathLst>
              <a:path h="5150013" w="8968410">
                <a:moveTo>
                  <a:pt x="0" y="0"/>
                </a:moveTo>
                <a:lnTo>
                  <a:pt x="8968410" y="0"/>
                </a:lnTo>
                <a:lnTo>
                  <a:pt x="8968410" y="5150013"/>
                </a:lnTo>
                <a:lnTo>
                  <a:pt x="0" y="5150013"/>
                </a:lnTo>
                <a:lnTo>
                  <a:pt x="0" y="0"/>
                </a:lnTo>
                <a:close/>
              </a:path>
            </a:pathLst>
          </a:custGeom>
          <a:blipFill>
            <a:blip r:embed="rId4"/>
            <a:stretch>
              <a:fillRect l="0" t="-1199" r="-37901" b="-4107"/>
            </a:stretch>
          </a:blipFill>
        </p:spPr>
      </p:sp>
      <p:sp>
        <p:nvSpPr>
          <p:cNvPr name="TextBox 5" id="5"/>
          <p:cNvSpPr txBox="true"/>
          <p:nvPr/>
        </p:nvSpPr>
        <p:spPr>
          <a:xfrm rot="0">
            <a:off x="1047750" y="866775"/>
            <a:ext cx="5825248" cy="1685917"/>
          </a:xfrm>
          <a:prstGeom prst="rect">
            <a:avLst/>
          </a:prstGeom>
        </p:spPr>
        <p:txBody>
          <a:bodyPr anchor="t" rtlCol="false" tIns="0" lIns="0" bIns="0" rIns="0">
            <a:spAutoFit/>
          </a:bodyPr>
          <a:lstStyle/>
          <a:p>
            <a:pPr algn="l">
              <a:lnSpc>
                <a:spcPts val="13200"/>
              </a:lnSpc>
            </a:pPr>
            <a:r>
              <a:rPr lang="en-US" sz="10000" spc="-490">
                <a:solidFill>
                  <a:srgbClr val="38B6FF"/>
                </a:solidFill>
                <a:latin typeface="Times New Roman"/>
                <a:ea typeface="Times New Roman"/>
                <a:cs typeface="Times New Roman"/>
                <a:sym typeface="Times New Roman"/>
              </a:rPr>
              <a:t>MODULES</a:t>
            </a:r>
          </a:p>
        </p:txBody>
      </p:sp>
      <p:sp>
        <p:nvSpPr>
          <p:cNvPr name="TextBox 6" id="6"/>
          <p:cNvSpPr txBox="true"/>
          <p:nvPr/>
        </p:nvSpPr>
        <p:spPr>
          <a:xfrm rot="0">
            <a:off x="9684686" y="6131088"/>
            <a:ext cx="6909234" cy="3895725"/>
          </a:xfrm>
          <a:prstGeom prst="rect">
            <a:avLst/>
          </a:prstGeom>
        </p:spPr>
        <p:txBody>
          <a:bodyPr anchor="t" rtlCol="false" tIns="0" lIns="0" bIns="0" rIns="0">
            <a:spAutoFit/>
          </a:bodyPr>
          <a:lstStyle/>
          <a:p>
            <a:pPr algn="l">
              <a:lnSpc>
                <a:spcPts val="3899"/>
              </a:lnSpc>
            </a:pPr>
          </a:p>
          <a:p>
            <a:pPr algn="l"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Role-based login — Student and Admin</a:t>
            </a:r>
          </a:p>
          <a:p>
            <a:pPr algn="l"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SHA-256 password hashing for security</a:t>
            </a:r>
          </a:p>
          <a:p>
            <a:pPr algn="l"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Student registration validates ID against dataset</a:t>
            </a:r>
          </a:p>
          <a:p>
            <a:pPr algn="l"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Admin can register with any ID</a:t>
            </a:r>
          </a:p>
          <a:p>
            <a:pPr algn="l"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Session state maintains login across pages</a:t>
            </a:r>
          </a:p>
          <a:p>
            <a:pPr algn="l">
              <a:lnSpc>
                <a:spcPts val="3899"/>
              </a:lnSpc>
            </a:pPr>
          </a:p>
        </p:txBody>
      </p:sp>
      <p:sp>
        <p:nvSpPr>
          <p:cNvPr name="TextBox 7" id="7"/>
          <p:cNvSpPr txBox="true"/>
          <p:nvPr/>
        </p:nvSpPr>
        <p:spPr>
          <a:xfrm rot="0">
            <a:off x="1047750" y="2655724"/>
            <a:ext cx="4730392" cy="1175385"/>
          </a:xfrm>
          <a:prstGeom prst="rect">
            <a:avLst/>
          </a:prstGeom>
        </p:spPr>
        <p:txBody>
          <a:bodyPr anchor="t" rtlCol="false" tIns="0" lIns="0" bIns="0" rIns="0">
            <a:spAutoFit/>
          </a:bodyPr>
          <a:lstStyle/>
          <a:p>
            <a:pPr algn="l">
              <a:lnSpc>
                <a:spcPts val="4619"/>
              </a:lnSpc>
            </a:pPr>
            <a:r>
              <a:rPr lang="en-US" sz="3499" spc="-171" u="sng">
                <a:solidFill>
                  <a:srgbClr val="38B6FF"/>
                </a:solidFill>
                <a:latin typeface="Times New Roman"/>
                <a:ea typeface="Times New Roman"/>
                <a:cs typeface="Times New Roman"/>
                <a:sym typeface="Times New Roman"/>
              </a:rPr>
              <a:t>AUTHENTICATION MODULE: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5534735" y="6985759"/>
            <a:ext cx="3247475" cy="472360"/>
          </a:xfrm>
          <a:custGeom>
            <a:avLst/>
            <a:gdLst/>
            <a:ahLst/>
            <a:cxnLst/>
            <a:rect r="r" b="b" t="t" l="l"/>
            <a:pathLst>
              <a:path h="472360" w="3247475">
                <a:moveTo>
                  <a:pt x="0" y="472361"/>
                </a:moveTo>
                <a:lnTo>
                  <a:pt x="3247476" y="472361"/>
                </a:lnTo>
                <a:lnTo>
                  <a:pt x="3247476" y="0"/>
                </a:lnTo>
                <a:lnTo>
                  <a:pt x="0" y="0"/>
                </a:lnTo>
                <a:lnTo>
                  <a:pt x="0" y="4723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00422" y="2834773"/>
            <a:ext cx="11835653" cy="5526859"/>
          </a:xfrm>
          <a:custGeom>
            <a:avLst/>
            <a:gdLst/>
            <a:ahLst/>
            <a:cxnLst/>
            <a:rect r="r" b="b" t="t" l="l"/>
            <a:pathLst>
              <a:path h="5526859" w="11835653">
                <a:moveTo>
                  <a:pt x="0" y="0"/>
                </a:moveTo>
                <a:lnTo>
                  <a:pt x="11835652" y="0"/>
                </a:lnTo>
                <a:lnTo>
                  <a:pt x="11835652" y="5526858"/>
                </a:lnTo>
                <a:lnTo>
                  <a:pt x="0" y="5526858"/>
                </a:lnTo>
                <a:lnTo>
                  <a:pt x="0" y="0"/>
                </a:lnTo>
                <a:close/>
              </a:path>
            </a:pathLst>
          </a:custGeom>
          <a:blipFill>
            <a:blip r:embed="rId4"/>
            <a:stretch>
              <a:fillRect l="0" t="0" r="0" b="0"/>
            </a:stretch>
          </a:blipFill>
        </p:spPr>
      </p:sp>
      <p:sp>
        <p:nvSpPr>
          <p:cNvPr name="TextBox 4" id="4"/>
          <p:cNvSpPr txBox="true"/>
          <p:nvPr/>
        </p:nvSpPr>
        <p:spPr>
          <a:xfrm rot="0">
            <a:off x="870030" y="2654977"/>
            <a:ext cx="4571722" cy="5838825"/>
          </a:xfrm>
          <a:prstGeom prst="rect">
            <a:avLst/>
          </a:prstGeom>
        </p:spPr>
        <p:txBody>
          <a:bodyPr anchor="t" rtlCol="false" tIns="0" lIns="0" bIns="0" rIns="0">
            <a:spAutoFit/>
          </a:bodyPr>
          <a:lstStyle/>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System metrics:</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Active Students</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Total Study Sessions</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Average Quiz Score</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Da</a:t>
            </a:r>
            <a:r>
              <a:rPr lang="en-US" sz="2999" spc="-89">
                <a:solidFill>
                  <a:srgbClr val="FFFFFF"/>
                </a:solidFill>
                <a:latin typeface="Times New Roman"/>
                <a:ea typeface="Times New Roman"/>
                <a:cs typeface="Times New Roman"/>
                <a:sym typeface="Times New Roman"/>
              </a:rPr>
              <a:t>taset Size</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Dataset upload — replace CSV with new data</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Qu</a:t>
            </a:r>
            <a:r>
              <a:rPr lang="en-US" sz="2999" spc="-89">
                <a:solidFill>
                  <a:srgbClr val="FFFFFF"/>
                </a:solidFill>
                <a:latin typeface="Times New Roman"/>
                <a:ea typeface="Times New Roman"/>
                <a:cs typeface="Times New Roman"/>
                <a:sym typeface="Times New Roman"/>
              </a:rPr>
              <a:t>ick Retrain — uses student logs for retraining</a:t>
            </a:r>
          </a:p>
          <a:p>
            <a:pPr algn="l" marL="647698" indent="-323849" lvl="1">
              <a:lnSpc>
                <a:spcPts val="3899"/>
              </a:lnSpc>
              <a:buFont typeface="Arial"/>
              <a:buChar char="•"/>
            </a:pPr>
            <a:r>
              <a:rPr lang="en-US" sz="2999" spc="-89">
                <a:solidFill>
                  <a:srgbClr val="FFFFFF"/>
                </a:solidFill>
                <a:latin typeface="Times New Roman"/>
                <a:ea typeface="Times New Roman"/>
                <a:cs typeface="Times New Roman"/>
                <a:sym typeface="Times New Roman"/>
              </a:rPr>
              <a:t>Full Retrain — uses full dataset features</a:t>
            </a:r>
          </a:p>
          <a:p>
            <a:pPr algn="l">
              <a:lnSpc>
                <a:spcPts val="3899"/>
              </a:lnSpc>
            </a:pPr>
          </a:p>
        </p:txBody>
      </p:sp>
      <p:sp>
        <p:nvSpPr>
          <p:cNvPr name="TextBox 5" id="5"/>
          <p:cNvSpPr txBox="true"/>
          <p:nvPr/>
        </p:nvSpPr>
        <p:spPr>
          <a:xfrm rot="0">
            <a:off x="1189945" y="1564642"/>
            <a:ext cx="4410476" cy="594360"/>
          </a:xfrm>
          <a:prstGeom prst="rect">
            <a:avLst/>
          </a:prstGeom>
        </p:spPr>
        <p:txBody>
          <a:bodyPr anchor="t" rtlCol="false" tIns="0" lIns="0" bIns="0" rIns="0">
            <a:spAutoFit/>
          </a:bodyPr>
          <a:lstStyle/>
          <a:p>
            <a:pPr algn="l">
              <a:lnSpc>
                <a:spcPts val="4619"/>
              </a:lnSpc>
            </a:pPr>
            <a:r>
              <a:rPr lang="en-US" sz="3499" spc="-171" u="sng">
                <a:solidFill>
                  <a:srgbClr val="38B6FF"/>
                </a:solidFill>
                <a:latin typeface="Times New Roman"/>
                <a:ea typeface="Times New Roman"/>
                <a:cs typeface="Times New Roman"/>
                <a:sym typeface="Times New Roman"/>
              </a:rPr>
              <a:t>ADMIN DASHBOARD: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9144000" y="501015"/>
            <a:ext cx="8325960" cy="4452105"/>
            <a:chOff x="0" y="0"/>
            <a:chExt cx="3297929" cy="1763488"/>
          </a:xfrm>
        </p:grpSpPr>
        <p:sp>
          <p:nvSpPr>
            <p:cNvPr name="Freeform 4" id="4"/>
            <p:cNvSpPr/>
            <p:nvPr/>
          </p:nvSpPr>
          <p:spPr>
            <a:xfrm flipH="false" flipV="false" rot="0">
              <a:off x="0" y="0"/>
              <a:ext cx="3297929" cy="1763488"/>
            </a:xfrm>
            <a:custGeom>
              <a:avLst/>
              <a:gdLst/>
              <a:ahLst/>
              <a:cxnLst/>
              <a:rect r="r" b="b" t="t" l="l"/>
              <a:pathLst>
                <a:path h="1763488" w="3297929">
                  <a:moveTo>
                    <a:pt x="0" y="0"/>
                  </a:moveTo>
                  <a:lnTo>
                    <a:pt x="3297929" y="0"/>
                  </a:lnTo>
                  <a:lnTo>
                    <a:pt x="3297929" y="1763488"/>
                  </a:lnTo>
                  <a:lnTo>
                    <a:pt x="0" y="1763488"/>
                  </a:lnTo>
                  <a:close/>
                </a:path>
              </a:pathLst>
            </a:custGeom>
            <a:blipFill>
              <a:blip r:embed="rId3"/>
              <a:stretch>
                <a:fillRect l="-8353" t="0" r="-8353" b="0"/>
              </a:stretch>
            </a:blipFill>
          </p:spPr>
        </p:sp>
      </p:grpSp>
      <p:sp>
        <p:nvSpPr>
          <p:cNvPr name="Freeform 5" id="5"/>
          <p:cNvSpPr/>
          <p:nvPr/>
        </p:nvSpPr>
        <p:spPr>
          <a:xfrm flipH="false" flipV="false" rot="0">
            <a:off x="1028700" y="5583597"/>
            <a:ext cx="7834465" cy="4452105"/>
          </a:xfrm>
          <a:custGeom>
            <a:avLst/>
            <a:gdLst/>
            <a:ahLst/>
            <a:cxnLst/>
            <a:rect r="r" b="b" t="t" l="l"/>
            <a:pathLst>
              <a:path h="4452105" w="7834465">
                <a:moveTo>
                  <a:pt x="0" y="0"/>
                </a:moveTo>
                <a:lnTo>
                  <a:pt x="7834465" y="0"/>
                </a:lnTo>
                <a:lnTo>
                  <a:pt x="7834465" y="4452105"/>
                </a:lnTo>
                <a:lnTo>
                  <a:pt x="0" y="4452105"/>
                </a:lnTo>
                <a:lnTo>
                  <a:pt x="0" y="0"/>
                </a:lnTo>
                <a:close/>
              </a:path>
            </a:pathLst>
          </a:custGeom>
          <a:blipFill>
            <a:blip r:embed="rId4"/>
            <a:stretch>
              <a:fillRect l="-6045" t="0" r="-20934" b="0"/>
            </a:stretch>
          </a:blipFill>
        </p:spPr>
      </p:sp>
      <p:sp>
        <p:nvSpPr>
          <p:cNvPr name="Freeform 6" id="6"/>
          <p:cNvSpPr/>
          <p:nvPr/>
        </p:nvSpPr>
        <p:spPr>
          <a:xfrm flipH="false" flipV="false" rot="0">
            <a:off x="9144000" y="5583597"/>
            <a:ext cx="8325960" cy="4452105"/>
          </a:xfrm>
          <a:custGeom>
            <a:avLst/>
            <a:gdLst/>
            <a:ahLst/>
            <a:cxnLst/>
            <a:rect r="r" b="b" t="t" l="l"/>
            <a:pathLst>
              <a:path h="4452105" w="8325960">
                <a:moveTo>
                  <a:pt x="0" y="0"/>
                </a:moveTo>
                <a:lnTo>
                  <a:pt x="8325960" y="0"/>
                </a:lnTo>
                <a:lnTo>
                  <a:pt x="8325960" y="4452105"/>
                </a:lnTo>
                <a:lnTo>
                  <a:pt x="0" y="4452105"/>
                </a:lnTo>
                <a:lnTo>
                  <a:pt x="0" y="0"/>
                </a:lnTo>
                <a:close/>
              </a:path>
            </a:pathLst>
          </a:custGeom>
          <a:blipFill>
            <a:blip r:embed="rId5"/>
            <a:stretch>
              <a:fillRect l="0" t="0" r="-18191" b="-5564"/>
            </a:stretch>
          </a:blipFill>
        </p:spPr>
      </p:sp>
      <p:sp>
        <p:nvSpPr>
          <p:cNvPr name="TextBox 7" id="7"/>
          <p:cNvSpPr txBox="true"/>
          <p:nvPr/>
        </p:nvSpPr>
        <p:spPr>
          <a:xfrm rot="0">
            <a:off x="911823" y="1299582"/>
            <a:ext cx="8068219" cy="4469130"/>
          </a:xfrm>
          <a:prstGeom prst="rect">
            <a:avLst/>
          </a:prstGeom>
        </p:spPr>
        <p:txBody>
          <a:bodyPr anchor="t" rtlCol="false" tIns="0" lIns="0" bIns="0" rIns="0">
            <a:spAutoFit/>
          </a:bodyPr>
          <a:lstStyle/>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KMeans clustering with c</a:t>
            </a:r>
            <a:r>
              <a:rPr lang="en-US" sz="3000" spc="-147">
                <a:solidFill>
                  <a:srgbClr val="FFFFFF"/>
                </a:solidFill>
                <a:latin typeface="Times New Roman"/>
                <a:ea typeface="Times New Roman"/>
                <a:cs typeface="Times New Roman"/>
                <a:sym typeface="Times New Roman"/>
              </a:rPr>
              <a:t>onfigurable number of clusters</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Sample student data table</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Scatter plot — Study Hours vs Final Exam Score</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Radar chart — Cluster characteristics comparison</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Cluster percentage breakdown</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Cluster insights — avg metrics per cluster</a:t>
            </a:r>
          </a:p>
          <a:p>
            <a:pPr algn="l" marL="647700" indent="-323850" lvl="1">
              <a:lnSpc>
                <a:spcPts val="3960"/>
              </a:lnSpc>
              <a:spcBef>
                <a:spcPct val="0"/>
              </a:spcBef>
              <a:buFont typeface="Arial"/>
              <a:buChar char="•"/>
            </a:pPr>
            <a:r>
              <a:rPr lang="en-US" sz="3000" spc="-147">
                <a:solidFill>
                  <a:srgbClr val="FFFFFF"/>
                </a:solidFill>
                <a:latin typeface="Times New Roman"/>
                <a:ea typeface="Times New Roman"/>
                <a:cs typeface="Times New Roman"/>
                <a:sym typeface="Times New Roman"/>
              </a:rPr>
              <a:t>Add new student with automatic cluster assignment</a:t>
            </a:r>
          </a:p>
          <a:p>
            <a:pPr algn="l">
              <a:lnSpc>
                <a:spcPts val="3960"/>
              </a:lnSpc>
              <a:spcBef>
                <a:spcPct val="0"/>
              </a:spcBef>
            </a:pPr>
          </a:p>
        </p:txBody>
      </p:sp>
      <p:sp>
        <p:nvSpPr>
          <p:cNvPr name="TextBox 8" id="8"/>
          <p:cNvSpPr txBox="true"/>
          <p:nvPr/>
        </p:nvSpPr>
        <p:spPr>
          <a:xfrm rot="0">
            <a:off x="1028700" y="434340"/>
            <a:ext cx="4410476" cy="594360"/>
          </a:xfrm>
          <a:prstGeom prst="rect">
            <a:avLst/>
          </a:prstGeom>
        </p:spPr>
        <p:txBody>
          <a:bodyPr anchor="t" rtlCol="false" tIns="0" lIns="0" bIns="0" rIns="0">
            <a:spAutoFit/>
          </a:bodyPr>
          <a:lstStyle/>
          <a:p>
            <a:pPr algn="l">
              <a:lnSpc>
                <a:spcPts val="4619"/>
              </a:lnSpc>
            </a:pPr>
            <a:r>
              <a:rPr lang="en-US" sz="3499" spc="-171" u="sng">
                <a:solidFill>
                  <a:srgbClr val="38B6FF"/>
                </a:solidFill>
                <a:latin typeface="Times New Roman"/>
                <a:ea typeface="Times New Roman"/>
                <a:cs typeface="Times New Roman"/>
                <a:sym typeface="Times New Roman"/>
              </a:rPr>
              <a:t>ADMIN PANEL: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267648" y="2606110"/>
            <a:ext cx="10540582" cy="5656571"/>
          </a:xfrm>
          <a:custGeom>
            <a:avLst/>
            <a:gdLst/>
            <a:ahLst/>
            <a:cxnLst/>
            <a:rect r="r" b="b" t="t" l="l"/>
            <a:pathLst>
              <a:path h="5656571" w="10540582">
                <a:moveTo>
                  <a:pt x="0" y="0"/>
                </a:moveTo>
                <a:lnTo>
                  <a:pt x="10540582" y="0"/>
                </a:lnTo>
                <a:lnTo>
                  <a:pt x="10540582" y="5656571"/>
                </a:lnTo>
                <a:lnTo>
                  <a:pt x="0" y="5656571"/>
                </a:lnTo>
                <a:lnTo>
                  <a:pt x="0" y="0"/>
                </a:lnTo>
                <a:close/>
              </a:path>
            </a:pathLst>
          </a:custGeom>
          <a:blipFill>
            <a:blip r:embed="rId2"/>
            <a:stretch>
              <a:fillRect l="-231" t="0" r="-231" b="0"/>
            </a:stretch>
          </a:blipFill>
        </p:spPr>
      </p:sp>
      <p:sp>
        <p:nvSpPr>
          <p:cNvPr name="TextBox 3" id="3"/>
          <p:cNvSpPr txBox="true"/>
          <p:nvPr/>
        </p:nvSpPr>
        <p:spPr>
          <a:xfrm rot="0">
            <a:off x="1028700" y="971550"/>
            <a:ext cx="5234485" cy="567309"/>
          </a:xfrm>
          <a:prstGeom prst="rect">
            <a:avLst/>
          </a:prstGeom>
        </p:spPr>
        <p:txBody>
          <a:bodyPr anchor="t" rtlCol="false" tIns="0" lIns="0" bIns="0" rIns="0">
            <a:spAutoFit/>
          </a:bodyPr>
          <a:lstStyle/>
          <a:p>
            <a:pPr algn="l">
              <a:lnSpc>
                <a:spcPts val="4487"/>
              </a:lnSpc>
            </a:pPr>
            <a:r>
              <a:rPr lang="en-US" sz="3399" spc="-166" u="sng">
                <a:solidFill>
                  <a:srgbClr val="38B6FF"/>
                </a:solidFill>
                <a:latin typeface="Times New Roman"/>
                <a:ea typeface="Times New Roman"/>
                <a:cs typeface="Times New Roman"/>
                <a:sym typeface="Times New Roman"/>
              </a:rPr>
              <a:t>ANALYTICS  DASHBOARD:</a:t>
            </a:r>
          </a:p>
        </p:txBody>
      </p:sp>
      <p:sp>
        <p:nvSpPr>
          <p:cNvPr name="TextBox 4" id="4"/>
          <p:cNvSpPr txBox="true"/>
          <p:nvPr/>
        </p:nvSpPr>
        <p:spPr>
          <a:xfrm rot="0">
            <a:off x="743119" y="1706499"/>
            <a:ext cx="6207188" cy="8580501"/>
          </a:xfrm>
          <a:prstGeom prst="rect">
            <a:avLst/>
          </a:prstGeom>
        </p:spPr>
        <p:txBody>
          <a:bodyPr anchor="t" rtlCol="false" tIns="0" lIns="0" bIns="0" rIns="0">
            <a:spAutoFit/>
          </a:bodyPr>
          <a:lstStyle/>
          <a:p>
            <a:pPr algn="l" marL="561337" indent="-280669" lvl="1">
              <a:lnSpc>
                <a:spcPts val="3431"/>
              </a:lnSpc>
              <a:spcBef>
                <a:spcPct val="0"/>
              </a:spcBef>
              <a:buFont typeface="Arial"/>
              <a:buChar char="•"/>
            </a:pPr>
            <a:r>
              <a:rPr lang="en-US" sz="2599" spc="-127">
                <a:solidFill>
                  <a:srgbClr val="E6F1FB"/>
                </a:solidFill>
                <a:latin typeface="Times New Roman"/>
                <a:ea typeface="Times New Roman"/>
                <a:cs typeface="Times New Roman"/>
                <a:sym typeface="Times New Roman"/>
              </a:rPr>
              <a:t>Study Time vs Quiz Scores — Scatter Plot: This graph shows the relationship between the am</a:t>
            </a:r>
            <a:r>
              <a:rPr lang="en-US" sz="2599" spc="-127">
                <a:solidFill>
                  <a:srgbClr val="E6F1FB"/>
                </a:solidFill>
                <a:latin typeface="Times New Roman"/>
                <a:ea typeface="Times New Roman"/>
                <a:cs typeface="Times New Roman"/>
                <a:sym typeface="Times New Roman"/>
              </a:rPr>
              <a:t>ount of time a student studies and their quiz scores, helping to identify whether increased study time leads to better performance.</a:t>
            </a:r>
          </a:p>
          <a:p>
            <a:pPr algn="l" marL="561337" indent="-280669" lvl="1">
              <a:lnSpc>
                <a:spcPts val="3431"/>
              </a:lnSpc>
              <a:spcBef>
                <a:spcPct val="0"/>
              </a:spcBef>
              <a:buFont typeface="Arial"/>
              <a:buChar char="•"/>
            </a:pPr>
            <a:r>
              <a:rPr lang="en-US" sz="2599" spc="-127">
                <a:solidFill>
                  <a:srgbClr val="E6F1FB"/>
                </a:solidFill>
                <a:latin typeface="Times New Roman"/>
                <a:ea typeface="Times New Roman"/>
                <a:cs typeface="Times New Roman"/>
                <a:sym typeface="Times New Roman"/>
              </a:rPr>
              <a:t>Correlation Heatmap — Bubble Chart: This visualization highlights the strength of relationships between different variables like study time, attendance, and scores, making it easy to spot strong or weak correlations.</a:t>
            </a:r>
          </a:p>
          <a:p>
            <a:pPr algn="l" marL="561337" indent="-280669" lvl="1">
              <a:lnSpc>
                <a:spcPts val="3431"/>
              </a:lnSpc>
              <a:spcBef>
                <a:spcPct val="0"/>
              </a:spcBef>
              <a:buFont typeface="Arial"/>
              <a:buChar char="•"/>
            </a:pPr>
            <a:r>
              <a:rPr lang="en-US" sz="2599" spc="-127">
                <a:solidFill>
                  <a:srgbClr val="E6F1FB"/>
                </a:solidFill>
                <a:latin typeface="Times New Roman"/>
                <a:ea typeface="Times New Roman"/>
                <a:cs typeface="Times New Roman"/>
                <a:sym typeface="Times New Roman"/>
              </a:rPr>
              <a:t>Attendance vs Performance — Bar Chart: This chart compares students’ attendance levels with their performance, showing how regular attendance impacts academic results.</a:t>
            </a:r>
          </a:p>
          <a:p>
            <a:pPr algn="l" marL="561337" indent="-280669" lvl="1">
              <a:lnSpc>
                <a:spcPts val="3431"/>
              </a:lnSpc>
              <a:spcBef>
                <a:spcPct val="0"/>
              </a:spcBef>
              <a:buFont typeface="Arial"/>
              <a:buChar char="•"/>
            </a:pPr>
            <a:r>
              <a:rPr lang="en-US" sz="2599" spc="-127">
                <a:solidFill>
                  <a:srgbClr val="E6F1FB"/>
                </a:solidFill>
                <a:latin typeface="Times New Roman"/>
                <a:ea typeface="Times New Roman"/>
                <a:cs typeface="Times New Roman"/>
                <a:sym typeface="Times New Roman"/>
              </a:rPr>
              <a:t>Performance Distribution — Donut Pie Chart: This chart represents the proportion of students in different performance categories, such as high, medium, and low performers, giving an overall view of class performance.</a:t>
            </a:r>
          </a:p>
          <a:p>
            <a:pPr algn="l">
              <a:lnSpc>
                <a:spcPts val="3431"/>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488359" y="360557"/>
            <a:ext cx="8770941" cy="4485310"/>
          </a:xfrm>
          <a:custGeom>
            <a:avLst/>
            <a:gdLst/>
            <a:ahLst/>
            <a:cxnLst/>
            <a:rect r="r" b="b" t="t" l="l"/>
            <a:pathLst>
              <a:path h="4485310" w="8770941">
                <a:moveTo>
                  <a:pt x="0" y="0"/>
                </a:moveTo>
                <a:lnTo>
                  <a:pt x="8770941" y="0"/>
                </a:lnTo>
                <a:lnTo>
                  <a:pt x="8770941" y="4485310"/>
                </a:lnTo>
                <a:lnTo>
                  <a:pt x="0" y="4485310"/>
                </a:lnTo>
                <a:lnTo>
                  <a:pt x="0" y="0"/>
                </a:lnTo>
                <a:close/>
              </a:path>
            </a:pathLst>
          </a:custGeom>
          <a:blipFill>
            <a:blip r:embed="rId2"/>
            <a:stretch>
              <a:fillRect l="-14137" t="-1658" r="0" b="-5337"/>
            </a:stretch>
          </a:blipFill>
        </p:spPr>
      </p:sp>
      <p:sp>
        <p:nvSpPr>
          <p:cNvPr name="Freeform 3" id="3"/>
          <p:cNvSpPr/>
          <p:nvPr/>
        </p:nvSpPr>
        <p:spPr>
          <a:xfrm flipH="false" flipV="false" rot="0">
            <a:off x="573324" y="5143500"/>
            <a:ext cx="9400664" cy="4595881"/>
          </a:xfrm>
          <a:custGeom>
            <a:avLst/>
            <a:gdLst/>
            <a:ahLst/>
            <a:cxnLst/>
            <a:rect r="r" b="b" t="t" l="l"/>
            <a:pathLst>
              <a:path h="4595881" w="9400664">
                <a:moveTo>
                  <a:pt x="0" y="0"/>
                </a:moveTo>
                <a:lnTo>
                  <a:pt x="9400664" y="0"/>
                </a:lnTo>
                <a:lnTo>
                  <a:pt x="9400664" y="4595881"/>
                </a:lnTo>
                <a:lnTo>
                  <a:pt x="0" y="4595881"/>
                </a:lnTo>
                <a:lnTo>
                  <a:pt x="0" y="0"/>
                </a:lnTo>
                <a:close/>
              </a:path>
            </a:pathLst>
          </a:custGeom>
          <a:blipFill>
            <a:blip r:embed="rId3"/>
            <a:stretch>
              <a:fillRect l="-2658" t="-815" r="0" b="-815"/>
            </a:stretch>
          </a:blipFill>
        </p:spPr>
      </p:sp>
      <p:sp>
        <p:nvSpPr>
          <p:cNvPr name="TextBox 4" id="4"/>
          <p:cNvSpPr txBox="true"/>
          <p:nvPr/>
        </p:nvSpPr>
        <p:spPr>
          <a:xfrm rot="0">
            <a:off x="515182" y="590280"/>
            <a:ext cx="4758474" cy="567309"/>
          </a:xfrm>
          <a:prstGeom prst="rect">
            <a:avLst/>
          </a:prstGeom>
        </p:spPr>
        <p:txBody>
          <a:bodyPr anchor="t" rtlCol="false" tIns="0" lIns="0" bIns="0" rIns="0">
            <a:spAutoFit/>
          </a:bodyPr>
          <a:lstStyle/>
          <a:p>
            <a:pPr algn="l">
              <a:lnSpc>
                <a:spcPts val="4487"/>
              </a:lnSpc>
            </a:pPr>
            <a:r>
              <a:rPr lang="en-US" sz="3399" spc="-166" u="sng">
                <a:solidFill>
                  <a:srgbClr val="38B6FF"/>
                </a:solidFill>
                <a:latin typeface="Times New Roman"/>
                <a:ea typeface="Times New Roman"/>
                <a:cs typeface="Times New Roman"/>
                <a:sym typeface="Times New Roman"/>
              </a:rPr>
              <a:t>STUDENT DASHBOARD:</a:t>
            </a:r>
          </a:p>
        </p:txBody>
      </p:sp>
      <p:sp>
        <p:nvSpPr>
          <p:cNvPr name="TextBox 5" id="5"/>
          <p:cNvSpPr txBox="true"/>
          <p:nvPr/>
        </p:nvSpPr>
        <p:spPr>
          <a:xfrm rot="0">
            <a:off x="515182" y="1348089"/>
            <a:ext cx="6061174" cy="3276600"/>
          </a:xfrm>
          <a:prstGeom prst="rect">
            <a:avLst/>
          </a:prstGeom>
        </p:spPr>
        <p:txBody>
          <a:bodyPr anchor="t" rtlCol="false" tIns="0" lIns="0" bIns="0" rIns="0">
            <a:spAutoFit/>
          </a:bodyPr>
          <a:lstStyle/>
          <a:p>
            <a:pPr algn="l">
              <a:lnSpc>
                <a:spcPts val="3299"/>
              </a:lnSpc>
              <a:spcBef>
                <a:spcPct val="0"/>
              </a:spcBef>
            </a:pPr>
            <a:r>
              <a:rPr lang="en-US" sz="2499" spc="-122">
                <a:solidFill>
                  <a:srgbClr val="FFFFFF"/>
                </a:solidFill>
                <a:latin typeface="Times New Roman"/>
                <a:ea typeface="Times New Roman"/>
                <a:cs typeface="Times New Roman"/>
                <a:sym typeface="Times New Roman"/>
              </a:rPr>
              <a:t>Auto-loads logged-in student's data using session state</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Displays cluster group and label</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Personalized recommendations:</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Optimal study times</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Session duration and break schedule</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Recommended study tools</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Weekly study schedule chart</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Expected performance improvement chart</a:t>
            </a:r>
          </a:p>
        </p:txBody>
      </p:sp>
      <p:sp>
        <p:nvSpPr>
          <p:cNvPr name="TextBox 6" id="6"/>
          <p:cNvSpPr txBox="true"/>
          <p:nvPr/>
        </p:nvSpPr>
        <p:spPr>
          <a:xfrm rot="0">
            <a:off x="10666485" y="6472809"/>
            <a:ext cx="4939457" cy="2457450"/>
          </a:xfrm>
          <a:prstGeom prst="rect">
            <a:avLst/>
          </a:prstGeom>
        </p:spPr>
        <p:txBody>
          <a:bodyPr anchor="t" rtlCol="false" tIns="0" lIns="0" bIns="0" rIns="0">
            <a:spAutoFit/>
          </a:bodyPr>
          <a:lstStyle/>
          <a:p>
            <a:pPr algn="l">
              <a:lnSpc>
                <a:spcPts val="3299"/>
              </a:lnSpc>
              <a:spcBef>
                <a:spcPct val="0"/>
              </a:spcBef>
            </a:pPr>
            <a:r>
              <a:rPr lang="en-US" sz="2499" spc="-122">
                <a:solidFill>
                  <a:srgbClr val="FFFFFF"/>
                </a:solidFill>
                <a:latin typeface="Times New Roman"/>
                <a:ea typeface="Times New Roman"/>
                <a:cs typeface="Times New Roman"/>
                <a:sym typeface="Times New Roman"/>
              </a:rPr>
              <a:t>Rule-based chatbot for study-related queries</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Topics covered:</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Study plan, time management, focus</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Exam preparation, motivation, memory</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Stress management, revision, health</a:t>
            </a:r>
          </a:p>
          <a:p>
            <a:pPr algn="l">
              <a:lnSpc>
                <a:spcPts val="3299"/>
              </a:lnSpc>
              <a:spcBef>
                <a:spcPct val="0"/>
              </a:spcBef>
            </a:pPr>
            <a:r>
              <a:rPr lang="en-US" sz="2499" spc="-122">
                <a:solidFill>
                  <a:srgbClr val="FFFFFF"/>
                </a:solidFill>
                <a:latin typeface="Times New Roman"/>
                <a:ea typeface="Times New Roman"/>
                <a:cs typeface="Times New Roman"/>
                <a:sym typeface="Times New Roman"/>
              </a:rPr>
              <a:t>Chat history maintained during session</a:t>
            </a:r>
          </a:p>
        </p:txBody>
      </p:sp>
      <p:sp>
        <p:nvSpPr>
          <p:cNvPr name="TextBox 7" id="7"/>
          <p:cNvSpPr txBox="true"/>
          <p:nvPr/>
        </p:nvSpPr>
        <p:spPr>
          <a:xfrm rot="0">
            <a:off x="10666485" y="5086350"/>
            <a:ext cx="4414688" cy="1129284"/>
          </a:xfrm>
          <a:prstGeom prst="rect">
            <a:avLst/>
          </a:prstGeom>
        </p:spPr>
        <p:txBody>
          <a:bodyPr anchor="t" rtlCol="false" tIns="0" lIns="0" bIns="0" rIns="0">
            <a:spAutoFit/>
          </a:bodyPr>
          <a:lstStyle/>
          <a:p>
            <a:pPr algn="l">
              <a:lnSpc>
                <a:spcPts val="4487"/>
              </a:lnSpc>
            </a:pPr>
            <a:r>
              <a:rPr lang="en-US" sz="3399" spc="-166" u="sng">
                <a:solidFill>
                  <a:srgbClr val="38B6FF"/>
                </a:solidFill>
                <a:latin typeface="Times New Roman"/>
                <a:ea typeface="Times New Roman"/>
                <a:cs typeface="Times New Roman"/>
                <a:sym typeface="Times New Roman"/>
              </a:rPr>
              <a:t>AI STUDY ASSISTANT CHATBOT: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5534735" y="6985759"/>
            <a:ext cx="3247475" cy="472360"/>
          </a:xfrm>
          <a:custGeom>
            <a:avLst/>
            <a:gdLst/>
            <a:ahLst/>
            <a:cxnLst/>
            <a:rect r="r" b="b" t="t" l="l"/>
            <a:pathLst>
              <a:path h="472360" w="3247475">
                <a:moveTo>
                  <a:pt x="0" y="472361"/>
                </a:moveTo>
                <a:lnTo>
                  <a:pt x="3247476" y="472361"/>
                </a:lnTo>
                <a:lnTo>
                  <a:pt x="3247476" y="0"/>
                </a:lnTo>
                <a:lnTo>
                  <a:pt x="0" y="0"/>
                </a:lnTo>
                <a:lnTo>
                  <a:pt x="0" y="4723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09599" y="604350"/>
            <a:ext cx="9447251" cy="4327590"/>
          </a:xfrm>
          <a:custGeom>
            <a:avLst/>
            <a:gdLst/>
            <a:ahLst/>
            <a:cxnLst/>
            <a:rect r="r" b="b" t="t" l="l"/>
            <a:pathLst>
              <a:path h="4327590" w="9447251">
                <a:moveTo>
                  <a:pt x="0" y="0"/>
                </a:moveTo>
                <a:lnTo>
                  <a:pt x="9447251" y="0"/>
                </a:lnTo>
                <a:lnTo>
                  <a:pt x="9447251" y="4327590"/>
                </a:lnTo>
                <a:lnTo>
                  <a:pt x="0" y="4327590"/>
                </a:lnTo>
                <a:lnTo>
                  <a:pt x="0" y="0"/>
                </a:lnTo>
                <a:close/>
              </a:path>
            </a:pathLst>
          </a:custGeom>
          <a:blipFill>
            <a:blip r:embed="rId4"/>
            <a:stretch>
              <a:fillRect l="0" t="0" r="0" b="0"/>
            </a:stretch>
          </a:blipFill>
        </p:spPr>
      </p:sp>
      <p:sp>
        <p:nvSpPr>
          <p:cNvPr name="Freeform 4" id="4"/>
          <p:cNvSpPr/>
          <p:nvPr/>
        </p:nvSpPr>
        <p:spPr>
          <a:xfrm flipH="false" flipV="false" rot="0">
            <a:off x="6909599" y="5143500"/>
            <a:ext cx="9475916" cy="4542653"/>
          </a:xfrm>
          <a:custGeom>
            <a:avLst/>
            <a:gdLst/>
            <a:ahLst/>
            <a:cxnLst/>
            <a:rect r="r" b="b" t="t" l="l"/>
            <a:pathLst>
              <a:path h="4542653" w="9475916">
                <a:moveTo>
                  <a:pt x="0" y="0"/>
                </a:moveTo>
                <a:lnTo>
                  <a:pt x="9475916" y="0"/>
                </a:lnTo>
                <a:lnTo>
                  <a:pt x="9475916" y="4542653"/>
                </a:lnTo>
                <a:lnTo>
                  <a:pt x="0" y="4542653"/>
                </a:lnTo>
                <a:lnTo>
                  <a:pt x="0" y="0"/>
                </a:lnTo>
                <a:close/>
              </a:path>
            </a:pathLst>
          </a:custGeom>
          <a:blipFill>
            <a:blip r:embed="rId5"/>
            <a:stretch>
              <a:fillRect l="0" t="0" r="0" b="0"/>
            </a:stretch>
          </a:blipFill>
        </p:spPr>
      </p:sp>
      <p:sp>
        <p:nvSpPr>
          <p:cNvPr name="TextBox 5" id="5"/>
          <p:cNvSpPr txBox="true"/>
          <p:nvPr/>
        </p:nvSpPr>
        <p:spPr>
          <a:xfrm rot="0">
            <a:off x="752659" y="1828800"/>
            <a:ext cx="5100623" cy="7429500"/>
          </a:xfrm>
          <a:prstGeom prst="rect">
            <a:avLst/>
          </a:prstGeom>
        </p:spPr>
        <p:txBody>
          <a:bodyPr anchor="t" rtlCol="false" tIns="0" lIns="0" bIns="0" rIns="0">
            <a:spAutoFit/>
          </a:bodyPr>
          <a:lstStyle/>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Students log daily study sessions</a:t>
            </a:r>
          </a:p>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Fi</a:t>
            </a:r>
            <a:r>
              <a:rPr lang="en-US" sz="3000" spc="-89">
                <a:solidFill>
                  <a:srgbClr val="FFFFFF"/>
                </a:solidFill>
                <a:latin typeface="Helvetica World"/>
                <a:ea typeface="Helvetica World"/>
                <a:cs typeface="Helvetica World"/>
                <a:sym typeface="Helvetica World"/>
              </a:rPr>
              <a:t>elds: Date, Subject, Duration, Distractions, Quiz Score</a:t>
            </a:r>
          </a:p>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Da</a:t>
            </a:r>
            <a:r>
              <a:rPr lang="en-US" sz="3000" spc="-89">
                <a:solidFill>
                  <a:srgbClr val="FFFFFF"/>
                </a:solidFill>
                <a:latin typeface="Helvetica World"/>
                <a:ea typeface="Helvetica World"/>
                <a:cs typeface="Helvetica World"/>
                <a:sym typeface="Helvetica World"/>
              </a:rPr>
              <a:t>ta saved to student_logs.csv</a:t>
            </a:r>
          </a:p>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Progress visualization — line chart over time</a:t>
            </a:r>
          </a:p>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Performance summary — avg score, avg study time, total sessions</a:t>
            </a:r>
          </a:p>
          <a:p>
            <a:pPr algn="l" marL="647700" indent="-323850" lvl="1">
              <a:lnSpc>
                <a:spcPts val="3900"/>
              </a:lnSpc>
              <a:buFont typeface="Arial"/>
              <a:buChar char="•"/>
            </a:pPr>
            <a:r>
              <a:rPr lang="en-US" sz="3000" spc="-89">
                <a:solidFill>
                  <a:srgbClr val="FFFFFF"/>
                </a:solidFill>
                <a:latin typeface="Helvetica World"/>
                <a:ea typeface="Helvetica World"/>
                <a:cs typeface="Helvetica World"/>
                <a:sym typeface="Helvetica World"/>
              </a:rPr>
              <a:t>Smart recommendations based on avg quiz score</a:t>
            </a:r>
          </a:p>
          <a:p>
            <a:pPr algn="l">
              <a:lnSpc>
                <a:spcPts val="3900"/>
              </a:lnSpc>
            </a:pPr>
          </a:p>
        </p:txBody>
      </p:sp>
      <p:sp>
        <p:nvSpPr>
          <p:cNvPr name="TextBox 6" id="6"/>
          <p:cNvSpPr txBox="true"/>
          <p:nvPr/>
        </p:nvSpPr>
        <p:spPr>
          <a:xfrm rot="0">
            <a:off x="752659" y="971550"/>
            <a:ext cx="4400951" cy="567309"/>
          </a:xfrm>
          <a:prstGeom prst="rect">
            <a:avLst/>
          </a:prstGeom>
        </p:spPr>
        <p:txBody>
          <a:bodyPr anchor="t" rtlCol="false" tIns="0" lIns="0" bIns="0" rIns="0">
            <a:spAutoFit/>
          </a:bodyPr>
          <a:lstStyle/>
          <a:p>
            <a:pPr algn="l">
              <a:lnSpc>
                <a:spcPts val="4487"/>
              </a:lnSpc>
            </a:pPr>
            <a:r>
              <a:rPr lang="en-US" sz="3399" spc="-166" u="sng">
                <a:solidFill>
                  <a:srgbClr val="38B6FF"/>
                </a:solidFill>
                <a:latin typeface="Times New Roman"/>
                <a:ea typeface="Times New Roman"/>
                <a:cs typeface="Times New Roman"/>
                <a:sym typeface="Times New Roman"/>
              </a:rPr>
              <a:t>STUDY LOG SESSIONS: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29576" y="1378756"/>
            <a:ext cx="10628848" cy="1666875"/>
          </a:xfrm>
          <a:prstGeom prst="rect">
            <a:avLst/>
          </a:prstGeom>
        </p:spPr>
        <p:txBody>
          <a:bodyPr anchor="t" rtlCol="false" tIns="0" lIns="0" bIns="0" rIns="0">
            <a:spAutoFit/>
          </a:bodyPr>
          <a:lstStyle/>
          <a:p>
            <a:pPr algn="l">
              <a:lnSpc>
                <a:spcPts val="13199"/>
              </a:lnSpc>
            </a:pPr>
            <a:r>
              <a:rPr lang="en-US" sz="9999" spc="-489">
                <a:solidFill>
                  <a:srgbClr val="38B6FF"/>
                </a:solidFill>
                <a:latin typeface="Times New Roman"/>
                <a:ea typeface="Times New Roman"/>
                <a:cs typeface="Times New Roman"/>
                <a:sym typeface="Times New Roman"/>
              </a:rPr>
              <a:t>RESULT ANALYSIS</a:t>
            </a:r>
          </a:p>
        </p:txBody>
      </p:sp>
      <p:sp>
        <p:nvSpPr>
          <p:cNvPr name="TextBox 4" id="4"/>
          <p:cNvSpPr txBox="true"/>
          <p:nvPr/>
        </p:nvSpPr>
        <p:spPr>
          <a:xfrm rot="0">
            <a:off x="1040973" y="3698136"/>
            <a:ext cx="15869452" cy="4953000"/>
          </a:xfrm>
          <a:prstGeom prst="rect">
            <a:avLst/>
          </a:prstGeom>
        </p:spPr>
        <p:txBody>
          <a:bodyPr anchor="t" rtlCol="false" tIns="0" lIns="0" bIns="0" rIns="0">
            <a:spAutoFit/>
          </a:bodyPr>
          <a:lstStyle/>
          <a:p>
            <a:pPr algn="just">
              <a:lnSpc>
                <a:spcPts val="3900"/>
              </a:lnSpc>
            </a:pPr>
            <a:r>
              <a:rPr lang="en-US" sz="3000" spc="-90">
                <a:solidFill>
                  <a:srgbClr val="FFFFFF"/>
                </a:solidFill>
                <a:latin typeface="Helvetica World"/>
                <a:ea typeface="Helvetica World"/>
                <a:cs typeface="Helvetica World"/>
                <a:sym typeface="Helvetica World"/>
              </a:rPr>
              <a:t>The results of the AI Student Study Tracker System demonstrate that consistent study habits and higher attendance are directly associated with better academic performance. The scatter plot indicates a positive relationship between study time and quiz scores, showing that students who invest more time in studying tend to achieve higher marks. The correlation analysis further confirms strong links between key factors such as study time, attendance, and performance. Additionally, the bar chart highlights that students</a:t>
            </a:r>
            <a:r>
              <a:rPr lang="en-US" sz="3000" spc="-90">
                <a:solidFill>
                  <a:srgbClr val="FFFFFF"/>
                </a:solidFill>
                <a:latin typeface="Helvetica World"/>
                <a:ea typeface="Helvetica World"/>
                <a:cs typeface="Helvetica World"/>
                <a:sym typeface="Helvetica World"/>
              </a:rPr>
              <a:t> w</a:t>
            </a:r>
            <a:r>
              <a:rPr lang="en-US" sz="3000" spc="-90">
                <a:solidFill>
                  <a:srgbClr val="FFFFFF"/>
                </a:solidFill>
                <a:latin typeface="Helvetica World"/>
                <a:ea typeface="Helvetica World"/>
                <a:cs typeface="Helvetica World"/>
                <a:sym typeface="Helvetica World"/>
              </a:rPr>
              <a:t>ith regular attendance perform significantly better than those with irregular participation. </a:t>
            </a:r>
            <a:r>
              <a:rPr lang="en-US" sz="3000" spc="-90">
                <a:solidFill>
                  <a:srgbClr val="FFFFFF"/>
                </a:solidFill>
                <a:latin typeface="Helvetica World"/>
                <a:ea typeface="Helvetica World"/>
                <a:cs typeface="Helvetica World"/>
                <a:sym typeface="Helvetica World"/>
              </a:rPr>
              <a:t>The p</a:t>
            </a:r>
            <a:r>
              <a:rPr lang="en-US" sz="3000" spc="-90">
                <a:solidFill>
                  <a:srgbClr val="FFFFFF"/>
                </a:solidFill>
                <a:latin typeface="Helvetica World"/>
                <a:ea typeface="Helvetica World"/>
                <a:cs typeface="Helvetica World"/>
                <a:sym typeface="Helvetica World"/>
              </a:rPr>
              <a:t>erformance distribution chart shows a balanced spread of students across different categories, while also identifying areas where improvement is needed. Overall, the system effectively provides meaningful insights that help students and administrators make informed decisions to enhance learning outcomes.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13350698" y="8773668"/>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257637" y="2472073"/>
            <a:ext cx="7772727" cy="1258679"/>
          </a:xfrm>
          <a:prstGeom prst="rect">
            <a:avLst/>
          </a:prstGeom>
        </p:spPr>
        <p:txBody>
          <a:bodyPr anchor="t" rtlCol="false" tIns="0" lIns="0" bIns="0" rIns="0">
            <a:spAutoFit/>
          </a:bodyPr>
          <a:lstStyle/>
          <a:p>
            <a:pPr algn="l">
              <a:lnSpc>
                <a:spcPts val="8728"/>
              </a:lnSpc>
            </a:pPr>
            <a:r>
              <a:rPr lang="en-US" sz="10032" spc="-491">
                <a:solidFill>
                  <a:srgbClr val="38B6FF"/>
                </a:solidFill>
                <a:latin typeface="Times New Roman"/>
                <a:ea typeface="Times New Roman"/>
                <a:cs typeface="Times New Roman"/>
                <a:sym typeface="Times New Roman"/>
              </a:rPr>
              <a:t>CONCLUSION</a:t>
            </a:r>
          </a:p>
        </p:txBody>
      </p:sp>
      <p:sp>
        <p:nvSpPr>
          <p:cNvPr name="TextBox 4" id="4"/>
          <p:cNvSpPr txBox="true"/>
          <p:nvPr/>
        </p:nvSpPr>
        <p:spPr>
          <a:xfrm rot="0">
            <a:off x="698137" y="3664077"/>
            <a:ext cx="15900037" cy="4818507"/>
          </a:xfrm>
          <a:prstGeom prst="rect">
            <a:avLst/>
          </a:prstGeom>
        </p:spPr>
        <p:txBody>
          <a:bodyPr anchor="t" rtlCol="false" tIns="0" lIns="0" bIns="0" rIns="0">
            <a:spAutoFit/>
          </a:bodyPr>
          <a:lstStyle/>
          <a:p>
            <a:pPr algn="just">
              <a:lnSpc>
                <a:spcPts val="4224"/>
              </a:lnSpc>
            </a:pPr>
          </a:p>
          <a:p>
            <a:pPr algn="just" marL="690881" indent="-345440" lvl="1">
              <a:lnSpc>
                <a:spcPts val="4224"/>
              </a:lnSpc>
              <a:buFont typeface="Arial"/>
              <a:buChar char="•"/>
            </a:pPr>
            <a:r>
              <a:rPr lang="en-US" sz="3200" spc="-156">
                <a:solidFill>
                  <a:srgbClr val="38B6FF"/>
                </a:solidFill>
                <a:latin typeface="Times New Roman"/>
                <a:ea typeface="Times New Roman"/>
                <a:cs typeface="Times New Roman"/>
                <a:sym typeface="Times New Roman"/>
              </a:rPr>
              <a:t>Successfully clustered 5000+ students into meaningful groups ranging from Needs Improvement  to Elite Performer using KMeans clustering.</a:t>
            </a:r>
          </a:p>
          <a:p>
            <a:pPr algn="just" marL="690881" indent="-345440" lvl="1">
              <a:lnSpc>
                <a:spcPts val="4224"/>
              </a:lnSpc>
              <a:buFont typeface="Arial"/>
              <a:buChar char="•"/>
            </a:pPr>
            <a:r>
              <a:rPr lang="en-US" sz="3200" spc="-156">
                <a:solidFill>
                  <a:srgbClr val="38B6FF"/>
                </a:solidFill>
                <a:latin typeface="Times New Roman"/>
                <a:ea typeface="Times New Roman"/>
                <a:cs typeface="Times New Roman"/>
                <a:sym typeface="Times New Roman"/>
              </a:rPr>
              <a:t>Each student received a personalized study plan with optimal study times, session duration and recommended tools based on their cluster group.</a:t>
            </a:r>
          </a:p>
          <a:p>
            <a:pPr algn="just" marL="690881" indent="-345440" lvl="1">
              <a:lnSpc>
                <a:spcPts val="4224"/>
              </a:lnSpc>
              <a:buFont typeface="Arial"/>
              <a:buChar char="•"/>
            </a:pPr>
            <a:r>
              <a:rPr lang="en-US" sz="3200" spc="-156">
                <a:solidFill>
                  <a:srgbClr val="38B6FF"/>
                </a:solidFill>
                <a:latin typeface="Times New Roman"/>
                <a:ea typeface="Times New Roman"/>
                <a:cs typeface="Times New Roman"/>
                <a:sym typeface="Times New Roman"/>
              </a:rPr>
              <a:t>Admins gained complete visibility into student behavior through interactive scatter plots, radar charts and cluster percentage breakdowns.</a:t>
            </a:r>
          </a:p>
          <a:p>
            <a:pPr algn="just" marL="690881" indent="-345440" lvl="1">
              <a:lnSpc>
                <a:spcPts val="4224"/>
              </a:lnSpc>
              <a:buFont typeface="Arial"/>
              <a:buChar char="•"/>
            </a:pPr>
            <a:r>
              <a:rPr lang="en-US" sz="3200" spc="-156">
                <a:solidFill>
                  <a:srgbClr val="38B6FF"/>
                </a:solidFill>
                <a:latin typeface="Times New Roman"/>
                <a:ea typeface="Times New Roman"/>
                <a:cs typeface="Times New Roman"/>
                <a:sym typeface="Times New Roman"/>
              </a:rPr>
              <a:t>Students were able to log daily study sessions, track their progress over time and get instant guidance from the AI study assistant chatbot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834488" y="1087860"/>
            <a:ext cx="8619024" cy="1666875"/>
          </a:xfrm>
          <a:prstGeom prst="rect">
            <a:avLst/>
          </a:prstGeom>
        </p:spPr>
        <p:txBody>
          <a:bodyPr anchor="t" rtlCol="false" tIns="0" lIns="0" bIns="0" rIns="0">
            <a:spAutoFit/>
          </a:bodyPr>
          <a:lstStyle/>
          <a:p>
            <a:pPr algn="l">
              <a:lnSpc>
                <a:spcPts val="13199"/>
              </a:lnSpc>
            </a:pPr>
            <a:r>
              <a:rPr lang="en-US" sz="9999" spc="-489">
                <a:solidFill>
                  <a:srgbClr val="38B6FF"/>
                </a:solidFill>
                <a:latin typeface="Times New Roman"/>
                <a:ea typeface="Times New Roman"/>
                <a:cs typeface="Times New Roman"/>
                <a:sym typeface="Times New Roman"/>
              </a:rPr>
              <a:t>FUTURE SCOPE</a:t>
            </a:r>
          </a:p>
        </p:txBody>
      </p:sp>
      <p:sp>
        <p:nvSpPr>
          <p:cNvPr name="TextBox 4" id="4"/>
          <p:cNvSpPr txBox="true"/>
          <p:nvPr/>
        </p:nvSpPr>
        <p:spPr>
          <a:xfrm rot="0">
            <a:off x="1209274" y="3419475"/>
            <a:ext cx="15869452" cy="5838825"/>
          </a:xfrm>
          <a:prstGeom prst="rect">
            <a:avLst/>
          </a:prstGeom>
        </p:spPr>
        <p:txBody>
          <a:bodyPr anchor="t" rtlCol="false" tIns="0" lIns="0" bIns="0" rIns="0">
            <a:spAutoFit/>
          </a:bodyPr>
          <a:lstStyle/>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The rule-based chatbot can be upgraded to an LLM powered AI assistant that understands natural language and provides more accurate and conversational study guidance.</a:t>
            </a:r>
          </a:p>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Automated email or SMS alerts can be integrated to notify students, parents and admins when a student's performance drops below a set threshold.</a:t>
            </a:r>
          </a:p>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The system can be connected to real college databases to automatically sync student records, attendance and exam scores, eliminating manual CSV uploads.</a:t>
            </a:r>
          </a:p>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A dedicated parent login module can be introduced to give parents real-time visibility into their child's study sessions, cluster group and overall academic progress.</a:t>
            </a:r>
          </a:p>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The clustering model can be strengthened by exploring advanced algorithms like DBSCAN or Hierarchical Clustering to better handle complex student behavior patterns.</a:t>
            </a:r>
          </a:p>
          <a:p>
            <a:pPr algn="just" marL="647695" indent="-323848" lvl="1">
              <a:lnSpc>
                <a:spcPts val="3899"/>
              </a:lnSpc>
              <a:buFont typeface="Arial"/>
              <a:buChar char="•"/>
            </a:pPr>
            <a:r>
              <a:rPr lang="en-US" sz="2999" spc="-89">
                <a:solidFill>
                  <a:srgbClr val="FFFFFF"/>
                </a:solidFill>
                <a:latin typeface="Times New Roman"/>
                <a:ea typeface="Times New Roman"/>
                <a:cs typeface="Times New Roman"/>
                <a:sym typeface="Times New Roman"/>
              </a:rPr>
              <a:t>A mobile friendly version can be developed and deployed on Streamlit Cloud, making the system accessible to students and admins from any device at any time.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5921917" y="8100856"/>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0800000">
            <a:off x="1028700" y="808153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16996033" y="1028700"/>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10800000">
            <a:off x="1028700" y="1028700"/>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611180" y="2145340"/>
            <a:ext cx="12616074" cy="6514920"/>
          </a:xfrm>
          <a:prstGeom prst="rect">
            <a:avLst/>
          </a:prstGeom>
        </p:spPr>
        <p:txBody>
          <a:bodyPr anchor="t" rtlCol="false" tIns="0" lIns="0" bIns="0" rIns="0">
            <a:spAutoFit/>
          </a:bodyPr>
          <a:lstStyle/>
          <a:p>
            <a:pPr algn="ctr">
              <a:lnSpc>
                <a:spcPts val="25590"/>
              </a:lnSpc>
            </a:pPr>
            <a:r>
              <a:rPr lang="en-US" sz="19386" spc="-949">
                <a:solidFill>
                  <a:srgbClr val="38B6FF"/>
                </a:solidFill>
                <a:latin typeface="Times New Roman"/>
                <a:ea typeface="Times New Roman"/>
                <a:cs typeface="Times New Roman"/>
                <a:sym typeface="Times New Roman"/>
              </a:rPr>
              <a:t>THANK YOU</a:t>
            </a:r>
          </a:p>
        </p:txBody>
      </p:sp>
      <p:sp>
        <p:nvSpPr>
          <p:cNvPr name="TextBox 10" id="10"/>
          <p:cNvSpPr txBox="true"/>
          <p:nvPr/>
        </p:nvSpPr>
        <p:spPr>
          <a:xfrm rot="0">
            <a:off x="5694556" y="5095875"/>
            <a:ext cx="6898887" cy="774823"/>
          </a:xfrm>
          <a:prstGeom prst="rect">
            <a:avLst/>
          </a:prstGeom>
        </p:spPr>
        <p:txBody>
          <a:bodyPr anchor="t" rtlCol="false" tIns="0" lIns="0" bIns="0" rIns="0">
            <a:spAutoFit/>
          </a:bodyPr>
          <a:lstStyle/>
          <a:p>
            <a:pPr algn="ctr">
              <a:lnSpc>
                <a:spcPts val="3014"/>
              </a:lnSpc>
            </a:pPr>
            <a:r>
              <a:rPr lang="en-US" sz="2283" spc="-111">
                <a:solidFill>
                  <a:srgbClr val="FFFFFF"/>
                </a:solidFill>
                <a:latin typeface="Times New Roman"/>
                <a:ea typeface="Times New Roman"/>
                <a:cs typeface="Times New Roman"/>
                <a:sym typeface="Times New Roman"/>
              </a:rPr>
              <a:t>STUDY TRACK AI BASED STUDENT STUDY HABIT RECOMMENDER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DAHF-uyUUts</dc:identifier>
  <dcterms:modified xsi:type="dcterms:W3CDTF">2011-08-01T06:04:30Z</dcterms:modified>
  <cp:revision>1</cp:revision>
  <dc:title>AI Student Study Tracking System</dc:title>
</cp:coreProperties>
</file>